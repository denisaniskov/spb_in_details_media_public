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Публичный релиз Android v1.1.1+3 подтверждён GitHub Release от 26.10.2026. Фирменная иконка — производный favicon из официального репозитория сайта.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Числа 180 мест и 35 исторических карточек подтверждены публичным backend README и Android README. Иллюстрация справа выполнена векторными фигурами и не воспроизводит настоящий интерфейс.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spb-in-details.vercel.app" TargetMode="External"/><Relationship Id="rId4" Type="http://schemas.openxmlformats.org/officeDocument/2006/relationships/image" Target="../media/image2.png"/><Relationship Id="rId5" Type="http://schemas.openxmlformats.org/officeDocument/2006/relationships/hyperlink" Target="https://github.com/DenisAniskov/SPb_in_Details_public/releases/tag/v1.1.1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enisAniskov/SPb_in_Details_public" TargetMode="External"/><Relationship Id="rId3" Type="http://schemas.openxmlformats.org/officeDocument/2006/relationships/hyperlink" Target="https://github.com/DenisAniskov/SPb_in_Details_Backend_public" TargetMode="External"/><Relationship Id="rId4" Type="http://schemas.openxmlformats.org/officeDocument/2006/relationships/hyperlink" Target="https://github.com/DenisAniskov/SPb_in_Details_public/releases/tag/v1.1.1" TargetMode="External"/><Relationship Id="rId5" Type="http://schemas.openxmlformats.org/officeDocument/2006/relationships/hyperlink" Target="https://spb-in-details.vercel.app" TargetMode="External"/><Relationship Id="rId6" Type="http://schemas.openxmlformats.org/officeDocument/2006/relationships/hyperlink" Target="https://www.openstreetmap.org/copyright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67144"/>
          </a:xfrm>
          <a:prstGeom prst="rect">
            <a:avLst/>
          </a:prstGeom>
          <a:solidFill>
            <a:srgbClr val="00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92440" y="0"/>
            <a:ext cx="4105656" cy="6858000"/>
          </a:xfrm>
          <a:prstGeom prst="rect">
            <a:avLst/>
          </a:prstGeom>
          <a:solidFill>
            <a:srgbClr val="011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955279" y="-1371600"/>
            <a:ext cx="5852160" cy="5852160"/>
          </a:xfrm>
          <a:prstGeom prst="ellipse">
            <a:avLst/>
          </a:prstGeom>
          <a:noFill/>
          <a:ln w="8890">
            <a:solidFill>
              <a:srgbClr val="0B2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644383" y="-1618488"/>
            <a:ext cx="6254496" cy="6254496"/>
          </a:xfrm>
          <a:prstGeom prst="ellipse">
            <a:avLst/>
          </a:prstGeom>
          <a:noFill/>
          <a:ln w="8890">
            <a:solidFill>
              <a:srgbClr val="0049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33488" y="-1865376"/>
            <a:ext cx="6656832" cy="6656832"/>
          </a:xfrm>
          <a:prstGeom prst="ellipse">
            <a:avLst/>
          </a:prstGeom>
          <a:noFill/>
          <a:ln w="8890">
            <a:solidFill>
              <a:srgbClr val="0B2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022592" y="-2112264"/>
            <a:ext cx="7059168" cy="7059168"/>
          </a:xfrm>
          <a:prstGeom prst="ellipse">
            <a:avLst/>
          </a:prstGeom>
          <a:noFill/>
          <a:ln w="8890">
            <a:solidFill>
              <a:srgbClr val="0049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711695" y="-2359152"/>
            <a:ext cx="7461504" cy="7461504"/>
          </a:xfrm>
          <a:prstGeom prst="ellipse">
            <a:avLst/>
          </a:prstGeom>
          <a:noFill/>
          <a:ln w="8890">
            <a:solidFill>
              <a:srgbClr val="0B2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_spb_verified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94360"/>
            <a:ext cx="749808" cy="7498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18488" y="658368"/>
            <a:ext cx="5486400" cy="24688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A8E8FC"/>
                </a:solidFill>
                <a:latin typeface="Inter"/>
              </a:rPr>
              <a:t>АНДРОИД-ПРИЛОЖЕНИЕ · САНКТ-ПЕТЕРБУРГ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545336"/>
            <a:ext cx="7315200" cy="1673352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4300" b="1" i="0">
                <a:solidFill>
                  <a:srgbClr val="F4F7FF"/>
                </a:solidFill>
                <a:latin typeface="Inter"/>
              </a:rPr>
              <a:t>Петербург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4300" b="1" i="0">
                <a:solidFill>
                  <a:srgbClr val="F4F7FF"/>
                </a:solidFill>
                <a:latin typeface="Inter"/>
              </a:rPr>
              <a:t>в деталях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4088" y="3502152"/>
            <a:ext cx="685800" cy="0"/>
          </a:xfrm>
          <a:prstGeom prst="line">
            <a:avLst/>
          </a:prstGeom>
          <a:ln w="63500">
            <a:solidFill>
              <a:srgbClr val="F3C3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94944" y="3785615"/>
            <a:ext cx="6858000" cy="68580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200" b="1" i="0">
                <a:solidFill>
                  <a:srgbClr val="FEE095"/>
                </a:solidFill>
                <a:latin typeface="Inter"/>
              </a:rPr>
              <a:t>Замечай больше. Открывай Петербург.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4736592"/>
            <a:ext cx="6172200" cy="79552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0" i="0">
                <a:solidFill>
                  <a:srgbClr val="C3D0E8"/>
                </a:solidFill>
                <a:latin typeface="Inter"/>
              </a:rPr>
              <a:t>Городской пешеходный навигатор, который помогает замечать интересные места по дороге.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" y="5824728"/>
            <a:ext cx="1554480" cy="365760"/>
          </a:xfrm>
          <a:prstGeom prst="roundRect">
            <a:avLst>
              <a:gd name="adj" fmla="val 27000"/>
            </a:avLst>
          </a:prstGeom>
          <a:solidFill>
            <a:srgbClr val="F3C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847588"/>
            <a:ext cx="1316736" cy="32004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06152F"/>
                </a:solidFill>
                <a:latin typeface="Inter"/>
              </a:rPr>
              <a:t>180 мест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3160" y="5824728"/>
            <a:ext cx="1956816" cy="365760"/>
          </a:xfrm>
          <a:prstGeom prst="roundRect">
            <a:avLst>
              <a:gd name="adj" fmla="val 27000"/>
            </a:avLst>
          </a:prstGeom>
          <a:solidFill>
            <a:srgbClr val="004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42032" y="5847588"/>
            <a:ext cx="1719072" cy="32004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4F7FF"/>
                </a:solidFill>
                <a:latin typeface="Inter"/>
              </a:rPr>
              <a:t>Android 8.0+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17136" y="5824728"/>
            <a:ext cx="1773936" cy="365760"/>
          </a:xfrm>
          <a:prstGeom prst="roundRect">
            <a:avLst>
              <a:gd name="adj" fmla="val 27000"/>
            </a:avLst>
          </a:prstGeom>
          <a:solidFill>
            <a:srgbClr val="004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36008" y="5847588"/>
            <a:ext cx="1536192" cy="32004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4F7FF"/>
                </a:solidFill>
                <a:latin typeface="Inter"/>
              </a:rPr>
              <a:t>v1.1.1 + 3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56448" y="4636008"/>
            <a:ext cx="685800" cy="1078992"/>
          </a:xfrm>
          <a:prstGeom prst="rect">
            <a:avLst/>
          </a:prstGeom>
          <a:solidFill>
            <a:srgbClr val="F3C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8327898" y="4837176"/>
            <a:ext cx="0" cy="731520"/>
          </a:xfrm>
          <a:prstGeom prst="line">
            <a:avLst/>
          </a:prstGeom>
          <a:ln w="11430">
            <a:solidFill>
              <a:srgbClr val="011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499348" y="4837176"/>
            <a:ext cx="0" cy="731520"/>
          </a:xfrm>
          <a:prstGeom prst="line">
            <a:avLst/>
          </a:prstGeom>
          <a:ln w="11430">
            <a:solidFill>
              <a:srgbClr val="011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70798" y="4837176"/>
            <a:ext cx="0" cy="731520"/>
          </a:xfrm>
          <a:prstGeom prst="line">
            <a:avLst/>
          </a:prstGeom>
          <a:ln w="11430">
            <a:solidFill>
              <a:srgbClr val="011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979408" y="3767328"/>
            <a:ext cx="512064" cy="1947672"/>
          </a:xfrm>
          <a:prstGeom prst="rect">
            <a:avLst/>
          </a:prstGeom>
          <a:solidFill>
            <a:srgbClr val="F3C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9107424" y="3968496"/>
            <a:ext cx="0" cy="1600200"/>
          </a:xfrm>
          <a:prstGeom prst="line">
            <a:avLst/>
          </a:prstGeom>
          <a:ln w="11430">
            <a:solidFill>
              <a:srgbClr val="011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235440" y="3968496"/>
            <a:ext cx="0" cy="1600200"/>
          </a:xfrm>
          <a:prstGeom prst="line">
            <a:avLst/>
          </a:prstGeom>
          <a:ln w="11430">
            <a:solidFill>
              <a:srgbClr val="011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363456" y="3968496"/>
            <a:ext cx="0" cy="1600200"/>
          </a:xfrm>
          <a:prstGeom prst="line">
            <a:avLst/>
          </a:prstGeom>
          <a:ln w="11430">
            <a:solidFill>
              <a:srgbClr val="011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9619488" y="4453128"/>
            <a:ext cx="841248" cy="1261872"/>
          </a:xfrm>
          <a:prstGeom prst="rect">
            <a:avLst/>
          </a:prstGeom>
          <a:solidFill>
            <a:srgbClr val="F3C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9829800" y="4654296"/>
            <a:ext cx="0" cy="914400"/>
          </a:xfrm>
          <a:prstGeom prst="line">
            <a:avLst/>
          </a:prstGeom>
          <a:ln w="11430">
            <a:solidFill>
              <a:srgbClr val="011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040112" y="4654296"/>
            <a:ext cx="0" cy="914400"/>
          </a:xfrm>
          <a:prstGeom prst="line">
            <a:avLst/>
          </a:prstGeom>
          <a:ln w="11430">
            <a:solidFill>
              <a:srgbClr val="011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250424" y="4654296"/>
            <a:ext cx="0" cy="914400"/>
          </a:xfrm>
          <a:prstGeom prst="line">
            <a:avLst/>
          </a:prstGeom>
          <a:ln w="11430">
            <a:solidFill>
              <a:srgbClr val="011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10616184" y="3959352"/>
            <a:ext cx="484632" cy="1755648"/>
          </a:xfrm>
          <a:prstGeom prst="rect">
            <a:avLst/>
          </a:prstGeom>
          <a:solidFill>
            <a:srgbClr val="F3C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10737342" y="4160520"/>
            <a:ext cx="0" cy="1408176"/>
          </a:xfrm>
          <a:prstGeom prst="line">
            <a:avLst/>
          </a:prstGeom>
          <a:ln w="11430">
            <a:solidFill>
              <a:srgbClr val="011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0858500" y="4160520"/>
            <a:ext cx="0" cy="1408176"/>
          </a:xfrm>
          <a:prstGeom prst="line">
            <a:avLst/>
          </a:prstGeom>
          <a:ln w="11430">
            <a:solidFill>
              <a:srgbClr val="011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979658" y="4160520"/>
            <a:ext cx="0" cy="1408176"/>
          </a:xfrm>
          <a:prstGeom prst="line">
            <a:avLst/>
          </a:prstGeom>
          <a:ln w="11430">
            <a:solidFill>
              <a:srgbClr val="011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11274552" y="4443984"/>
            <a:ext cx="658368" cy="1271016"/>
          </a:xfrm>
          <a:prstGeom prst="rect">
            <a:avLst/>
          </a:prstGeom>
          <a:solidFill>
            <a:srgbClr val="F3C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11439144" y="4645152"/>
            <a:ext cx="0" cy="923544"/>
          </a:xfrm>
          <a:prstGeom prst="line">
            <a:avLst/>
          </a:prstGeom>
          <a:ln w="11430">
            <a:solidFill>
              <a:srgbClr val="011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1603736" y="4645152"/>
            <a:ext cx="0" cy="923544"/>
          </a:xfrm>
          <a:prstGeom prst="line">
            <a:avLst/>
          </a:prstGeom>
          <a:ln w="11430">
            <a:solidFill>
              <a:srgbClr val="011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1768328" y="4645152"/>
            <a:ext cx="0" cy="923544"/>
          </a:xfrm>
          <a:prstGeom prst="line">
            <a:avLst/>
          </a:prstGeom>
          <a:ln w="11430">
            <a:solidFill>
              <a:srgbClr val="011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0853928" y="2743200"/>
            <a:ext cx="0" cy="1225296"/>
          </a:xfrm>
          <a:prstGeom prst="line">
            <a:avLst/>
          </a:prstGeom>
          <a:ln w="29209">
            <a:solidFill>
              <a:srgbClr val="F3C3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074152" y="5870448"/>
            <a:ext cx="4123944" cy="0"/>
          </a:xfrm>
          <a:prstGeom prst="line">
            <a:avLst/>
          </a:prstGeom>
          <a:ln w="13970">
            <a:solidFill>
              <a:srgbClr val="55B1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074152" y="6089904"/>
            <a:ext cx="4123944" cy="0"/>
          </a:xfrm>
          <a:prstGeom prst="line">
            <a:avLst/>
          </a:prstGeom>
          <a:ln w="13970">
            <a:solidFill>
              <a:srgbClr val="55B1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8302752" y="6245352"/>
            <a:ext cx="3346704" cy="256032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C3D0E8"/>
                </a:solidFill>
                <a:latin typeface="Inter"/>
              </a:rPr>
              <a:t>Презентация продукта · Октябрь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256032"/>
            <a:ext cx="8229600" cy="31089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0049B3"/>
                </a:solidFill>
                <a:latin typeface="Inter"/>
              </a:rPr>
              <a:t>01 / ИДЕЯ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3504" y="694944"/>
            <a:ext cx="10981944" cy="0"/>
          </a:xfrm>
          <a:prstGeom prst="line">
            <a:avLst/>
          </a:prstGeom>
          <a:ln w="889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2648" y="969264"/>
            <a:ext cx="10881360" cy="99669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300" b="1" i="0">
                <a:solidFill>
                  <a:srgbClr val="06152F"/>
                </a:solidFill>
                <a:latin typeface="Inter"/>
              </a:rPr>
              <a:t>Между точками есть город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" y="1901952"/>
            <a:ext cx="10607040" cy="512064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526584"/>
                </a:solidFill>
                <a:latin typeface="Inter"/>
              </a:rPr>
              <a:t>Постройте путь — и найдите, ради чего стоит посмотреть по сторонам.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" y="2798064"/>
            <a:ext cx="3593592" cy="2560320"/>
          </a:xfrm>
          <a:prstGeom prst="roundRect">
            <a:avLst>
              <a:gd name="adj" fmla="val 10000"/>
            </a:avLst>
          </a:prstGeom>
          <a:solidFill>
            <a:srgbClr val="ED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999232"/>
            <a:ext cx="1097280" cy="521207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100" b="1" i="0">
                <a:solidFill>
                  <a:srgbClr val="0049B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675887"/>
            <a:ext cx="2999232" cy="438912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 i="0">
                <a:solidFill>
                  <a:srgbClr val="06152F"/>
                </a:solidFill>
                <a:latin typeface="Inter"/>
              </a:rPr>
              <a:t>Найти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4288536"/>
            <a:ext cx="2880360" cy="603504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526584"/>
                </a:solidFill>
                <a:latin typeface="Inter"/>
              </a:rPr>
              <a:t>Каталог городских объектов, которые хочется увидеть.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71416" y="2798064"/>
            <a:ext cx="3593592" cy="2560320"/>
          </a:xfrm>
          <a:prstGeom prst="roundRect">
            <a:avLst>
              <a:gd name="adj" fmla="val 10000"/>
            </a:avLst>
          </a:prstGeom>
          <a:solidFill>
            <a:srgbClr val="FC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7448" y="2999232"/>
            <a:ext cx="1097280" cy="521207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100" b="1" i="0">
                <a:solidFill>
                  <a:srgbClr val="AF7B20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3675887"/>
            <a:ext cx="2999232" cy="438912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 i="0">
                <a:solidFill>
                  <a:srgbClr val="06152F"/>
                </a:solidFill>
                <a:latin typeface="Inter"/>
              </a:rPr>
              <a:t>Выбрать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4288536"/>
            <a:ext cx="2880360" cy="603504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526584"/>
                </a:solidFill>
                <a:latin typeface="Inter"/>
              </a:rPr>
              <a:t>Прогулка под интересы и доступное время.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11896" y="2798064"/>
            <a:ext cx="3593592" cy="2560320"/>
          </a:xfrm>
          <a:prstGeom prst="roundRect">
            <a:avLst>
              <a:gd name="adj" fmla="val 10000"/>
            </a:avLst>
          </a:prstGeom>
          <a:solidFill>
            <a:srgbClr val="F3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67928" y="2999232"/>
            <a:ext cx="1097280" cy="521207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100" b="1" i="0">
                <a:solidFill>
                  <a:srgbClr val="0049B3"/>
                </a:solidFill>
                <a:latin typeface="Inter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67928" y="3675887"/>
            <a:ext cx="2999232" cy="438912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 i="0">
                <a:solidFill>
                  <a:srgbClr val="06152F"/>
                </a:solidFill>
                <a:latin typeface="Inter"/>
              </a:rPr>
              <a:t>Узнать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67928" y="4288536"/>
            <a:ext cx="2880360" cy="603504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526584"/>
                </a:solidFill>
                <a:latin typeface="Inter"/>
              </a:rPr>
              <a:t>Описание места и исторический контекст.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" y="5586984"/>
            <a:ext cx="10963656" cy="530352"/>
          </a:xfrm>
          <a:prstGeom prst="roundRect">
            <a:avLst>
              <a:gd name="adj" fmla="val 11000"/>
            </a:avLst>
          </a:prstGeom>
          <a:solidFill>
            <a:srgbClr val="011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660136"/>
            <a:ext cx="10515600" cy="347472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4F7FF"/>
                </a:solidFill>
                <a:latin typeface="Inter"/>
              </a:rPr>
              <a:t>Не универсальный транспортный навигатор — инструмент для самостоятельной пешей прогулки.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3504" y="6510528"/>
            <a:ext cx="10981944" cy="0"/>
          </a:xfrm>
          <a:prstGeom prst="line">
            <a:avLst/>
          </a:prstGeom>
          <a:ln w="6985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30936" y="6565392"/>
            <a:ext cx="9509760" cy="15544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526584"/>
                </a:solidFill>
                <a:latin typeface="Inter"/>
              </a:rPr>
              <a:t>ПЕТЕРБУРГ В ДЕТАЛЯХ  •  v1.1.1  •  26.10.2026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18520" y="6556248"/>
            <a:ext cx="521207" cy="20116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526584"/>
                </a:solidFill>
                <a:latin typeface="Inter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C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256032"/>
            <a:ext cx="8229600" cy="31089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0049B3"/>
                </a:solidFill>
                <a:latin typeface="Inter"/>
              </a:rPr>
              <a:t>02 / КАТАЛОГ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3504" y="694944"/>
            <a:ext cx="10981944" cy="0"/>
          </a:xfrm>
          <a:prstGeom prst="line">
            <a:avLst/>
          </a:prstGeom>
          <a:ln w="889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932688"/>
            <a:ext cx="6537960" cy="1033271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300" b="1" i="0">
                <a:solidFill>
                  <a:srgbClr val="06152F"/>
                </a:solidFill>
                <a:latin typeface="Inter"/>
              </a:rPr>
              <a:t>Начните с интересного места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01952"/>
            <a:ext cx="5806440" cy="68580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526584"/>
                </a:solidFill>
                <a:latin typeface="Inter"/>
              </a:rPr>
              <a:t>Редакционная подборка для прогулок по Санкт-Петербургу.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834640"/>
            <a:ext cx="3246120" cy="1033271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6600" b="1" i="0">
                <a:solidFill>
                  <a:srgbClr val="0049B3"/>
                </a:solidFill>
                <a:latin typeface="Inter"/>
              </a:rPr>
              <a:t>180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82112" y="3017520"/>
            <a:ext cx="2944368" cy="603504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 i="0">
                <a:solidFill>
                  <a:srgbClr val="06152F"/>
                </a:solidFill>
                <a:latin typeface="Inter"/>
              </a:rPr>
              <a:t>мест в каталоге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9224" y="4087368"/>
            <a:ext cx="5605272" cy="0"/>
          </a:xfrm>
          <a:prstGeom prst="line">
            <a:avLst/>
          </a:prstGeom>
          <a:ln w="1270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1792" y="4242816"/>
            <a:ext cx="1828800" cy="713232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500" b="1" i="0">
                <a:solidFill>
                  <a:srgbClr val="B78220"/>
                </a:solidFill>
                <a:latin typeface="Inter"/>
              </a:rPr>
              <a:t>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48256" y="4370832"/>
            <a:ext cx="4069080" cy="740664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 i="0">
                <a:solidFill>
                  <a:srgbClr val="06152F"/>
                </a:solidFill>
                <a:latin typeface="Inter"/>
              </a:rPr>
              <a:t>исторических справок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 i="0">
                <a:solidFill>
                  <a:srgbClr val="06152F"/>
                </a:solidFill>
                <a:latin typeface="Inter"/>
              </a:rPr>
              <a:t>для части объектов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" y="5614416"/>
            <a:ext cx="5779008" cy="512064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26584"/>
                </a:solidFill>
                <a:latin typeface="Inter"/>
              </a:rPr>
              <a:t>Каталог — выборка, а не полный список достопримечательностей города.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07808" y="932688"/>
            <a:ext cx="3264408" cy="5111496"/>
          </a:xfrm>
          <a:prstGeom prst="roundRect">
            <a:avLst>
              <a:gd name="adj" fmla="val 15000"/>
            </a:avLst>
          </a:prstGeom>
          <a:solidFill>
            <a:srgbClr val="101C3A"/>
          </a:solidFill>
          <a:ln w="11430">
            <a:solidFill>
              <a:srgbClr val="5671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26680" y="1051560"/>
            <a:ext cx="3026663" cy="4873752"/>
          </a:xfrm>
          <a:prstGeom prst="roundRect">
            <a:avLst>
              <a:gd name="adj" fmla="val 9000"/>
            </a:avLst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782994" y="996696"/>
            <a:ext cx="914034" cy="73152"/>
          </a:xfrm>
          <a:prstGeom prst="roundRect">
            <a:avLst>
              <a:gd name="adj" fmla="val 20000"/>
            </a:avLst>
          </a:prstGeom>
          <a:solidFill>
            <a:srgbClr val="1F3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26680" y="1051560"/>
            <a:ext cx="3026663" cy="612648"/>
          </a:xfrm>
          <a:prstGeom prst="roundRect">
            <a:avLst>
              <a:gd name="adj" fmla="val 3000"/>
            </a:avLst>
          </a:prstGeom>
          <a:solidFill>
            <a:srgbClr val="011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82128" y="1179576"/>
            <a:ext cx="2715768" cy="256032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4F7FF"/>
                </a:solidFill>
                <a:latin typeface="Inter"/>
              </a:rPr>
              <a:t>Места рядом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901952"/>
            <a:ext cx="2660903" cy="384048"/>
          </a:xfrm>
          <a:prstGeom prst="roundRect">
            <a:avLst>
              <a:gd name="adj" fmla="val 18000"/>
            </a:avLst>
          </a:prstGeom>
          <a:solidFill>
            <a:srgbClr val="ED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28432" y="1993391"/>
            <a:ext cx="2404872" cy="18288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526584"/>
                </a:solidFill>
                <a:latin typeface="Inter"/>
              </a:rPr>
              <a:t>Поиск по местам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0416" y="2505456"/>
            <a:ext cx="713232" cy="731520"/>
          </a:xfrm>
          <a:prstGeom prst="roundRect">
            <a:avLst>
              <a:gd name="adj" fmla="val 10000"/>
            </a:avLst>
          </a:prstGeom>
          <a:solidFill>
            <a:srgbClr val="CEE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156448" y="2734056"/>
            <a:ext cx="192024" cy="192024"/>
          </a:xfrm>
          <a:prstGeom prst="ellipse">
            <a:avLst/>
          </a:prstGeom>
          <a:solidFill>
            <a:srgbClr val="004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69096" y="2606040"/>
            <a:ext cx="1801367" cy="24688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06152F"/>
                </a:solidFill>
                <a:latin typeface="Inter"/>
              </a:rPr>
              <a:t>Городские места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69096" y="2916936"/>
            <a:ext cx="1801367" cy="21945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526584"/>
                </a:solidFill>
                <a:latin typeface="Inter"/>
              </a:rPr>
              <a:t>Описание и маршрут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00416" y="3538728"/>
            <a:ext cx="713232" cy="731520"/>
          </a:xfrm>
          <a:prstGeom prst="roundRect">
            <a:avLst>
              <a:gd name="adj" fmla="val 10000"/>
            </a:avLst>
          </a:prstGeom>
          <a:solidFill>
            <a:srgbClr val="FCE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156448" y="3767328"/>
            <a:ext cx="192024" cy="192024"/>
          </a:xfrm>
          <a:prstGeom prst="ellipse">
            <a:avLst/>
          </a:prstGeom>
          <a:solidFill>
            <a:srgbClr val="F3C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69096" y="3639312"/>
            <a:ext cx="1801367" cy="24688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06152F"/>
                </a:solidFill>
                <a:latin typeface="Inter"/>
              </a:rPr>
              <a:t>Интересные детали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69096" y="3950208"/>
            <a:ext cx="1801367" cy="21945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526584"/>
                </a:solidFill>
                <a:latin typeface="Inter"/>
              </a:rPr>
              <a:t>Описание и маршрут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0416" y="4572000"/>
            <a:ext cx="713232" cy="731520"/>
          </a:xfrm>
          <a:prstGeom prst="roundRect">
            <a:avLst>
              <a:gd name="adj" fmla="val 10000"/>
            </a:avLst>
          </a:prstGeom>
          <a:solidFill>
            <a:srgbClr val="CEE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156448" y="4800600"/>
            <a:ext cx="192024" cy="192024"/>
          </a:xfrm>
          <a:prstGeom prst="ellipse">
            <a:avLst/>
          </a:prstGeom>
          <a:solidFill>
            <a:srgbClr val="004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69096" y="4672584"/>
            <a:ext cx="1801367" cy="24688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06152F"/>
                </a:solidFill>
                <a:latin typeface="Inter"/>
              </a:rPr>
              <a:t>Идеи прогулок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69096" y="4983480"/>
            <a:ext cx="1801367" cy="21945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526584"/>
                </a:solidFill>
                <a:latin typeface="Inter"/>
              </a:rPr>
              <a:t>Описание и маршрут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09560" y="5230368"/>
            <a:ext cx="2660903" cy="320040"/>
          </a:xfrm>
          <a:prstGeom prst="roundRect">
            <a:avLst>
              <a:gd name="adj" fmla="val 12000"/>
            </a:avLst>
          </a:prstGeom>
          <a:solidFill>
            <a:srgbClr val="004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46136" y="5285231"/>
            <a:ext cx="2587752" cy="21945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F4F7FF"/>
                </a:solidFill>
                <a:latin typeface="Inter"/>
              </a:rPr>
              <a:t>Выбрать прогулку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54112" y="6144768"/>
            <a:ext cx="2971800" cy="210312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700" b="1" i="0">
                <a:solidFill>
                  <a:srgbClr val="526584"/>
                </a:solidFill>
                <a:latin typeface="Inter"/>
              </a:rPr>
              <a:t>СХЕМА, НЕ СКРИНШОТ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3504" y="6510528"/>
            <a:ext cx="10981944" cy="0"/>
          </a:xfrm>
          <a:prstGeom prst="line">
            <a:avLst/>
          </a:prstGeom>
          <a:ln w="6985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30936" y="6565392"/>
            <a:ext cx="9509760" cy="15544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526584"/>
                </a:solidFill>
                <a:latin typeface="Inter"/>
              </a:rPr>
              <a:t>ПЕТЕРБУРГ В ДЕТАЛЯХ  •  v1.1.1  •  26.10.2026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18520" y="6556248"/>
            <a:ext cx="521207" cy="20116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526584"/>
                </a:solidFill>
                <a:latin typeface="Inter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256032"/>
            <a:ext cx="8229600" cy="31089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0049B3"/>
                </a:solidFill>
                <a:latin typeface="Inter"/>
              </a:rPr>
              <a:t>03 / SMART WALK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3504" y="694944"/>
            <a:ext cx="10981944" cy="0"/>
          </a:xfrm>
          <a:prstGeom prst="line">
            <a:avLst/>
          </a:prstGeom>
          <a:ln w="889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2648" y="969264"/>
            <a:ext cx="10881360" cy="99669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300" b="1" i="0">
                <a:solidFill>
                  <a:srgbClr val="06152F"/>
                </a:solidFill>
                <a:latin typeface="Inter"/>
              </a:rPr>
              <a:t>Прогулка начинается с ваших интересов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" y="1901952"/>
            <a:ext cx="10607040" cy="512064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526584"/>
                </a:solidFill>
                <a:latin typeface="Inter"/>
              </a:rPr>
              <a:t>Никакого расписания: вы выбираете, что интересно, и сколько есть времени.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679192"/>
            <a:ext cx="5257800" cy="1271016"/>
          </a:xfrm>
          <a:prstGeom prst="roundRect">
            <a:avLst>
              <a:gd name="adj" fmla="val 13000"/>
            </a:avLst>
          </a:prstGeom>
          <a:solidFill>
            <a:srgbClr val="ED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2935224"/>
            <a:ext cx="612648" cy="612648"/>
          </a:xfrm>
          <a:prstGeom prst="ellipse">
            <a:avLst/>
          </a:prstGeom>
          <a:solidFill>
            <a:srgbClr val="004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3072384"/>
            <a:ext cx="566928" cy="24688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F4F7FF"/>
                </a:solidFill>
                <a:latin typeface="Inter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81912" y="2880360"/>
            <a:ext cx="3931920" cy="40233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06152F"/>
                </a:solidFill>
                <a:latin typeface="Inter"/>
              </a:rPr>
              <a:t>Укажите интересы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1912" y="3401568"/>
            <a:ext cx="3895344" cy="36576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526584"/>
                </a:solidFill>
                <a:latin typeface="Inter"/>
              </a:rPr>
              <a:t>Категории мест и предпочтения.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679192"/>
            <a:ext cx="5257800" cy="1271016"/>
          </a:xfrm>
          <a:prstGeom prst="roundRect">
            <a:avLst>
              <a:gd name="adj" fmla="val 13000"/>
            </a:avLst>
          </a:prstGeom>
          <a:solidFill>
            <a:srgbClr val="FC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19088" y="2935224"/>
            <a:ext cx="612648" cy="612648"/>
          </a:xfrm>
          <a:prstGeom prst="ellipse">
            <a:avLst/>
          </a:prstGeom>
          <a:solidFill>
            <a:srgbClr val="C68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3072384"/>
            <a:ext cx="566928" cy="24688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F4F7FF"/>
                </a:solidFill>
                <a:latin typeface="Inter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880360"/>
            <a:ext cx="3931920" cy="40233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06152F"/>
                </a:solidFill>
                <a:latin typeface="Inter"/>
              </a:rPr>
              <a:t>Выберите время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3401568"/>
            <a:ext cx="3895344" cy="36576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526584"/>
                </a:solidFill>
                <a:latin typeface="Inter"/>
              </a:rPr>
              <a:t>Ориентир для продолжительности прогулки.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160520"/>
            <a:ext cx="5257800" cy="1271016"/>
          </a:xfrm>
          <a:prstGeom prst="roundRect">
            <a:avLst>
              <a:gd name="adj" fmla="val 13000"/>
            </a:avLst>
          </a:prstGeom>
          <a:solidFill>
            <a:srgbClr val="ED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4416552"/>
            <a:ext cx="612648" cy="612648"/>
          </a:xfrm>
          <a:prstGeom prst="ellipse">
            <a:avLst/>
          </a:prstGeom>
          <a:solidFill>
            <a:srgbClr val="004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4553712"/>
            <a:ext cx="566928" cy="24688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F4F7FF"/>
                </a:solidFill>
                <a:latin typeface="Inter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1912" y="4361688"/>
            <a:ext cx="3931920" cy="40233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06152F"/>
                </a:solidFill>
                <a:latin typeface="Inter"/>
              </a:rPr>
              <a:t>Получите подборку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1912" y="4882896"/>
            <a:ext cx="3895344" cy="36576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526584"/>
                </a:solidFill>
                <a:latin typeface="Inter"/>
              </a:rPr>
              <a:t>Smart Walk предложит последовательность мест.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160520"/>
            <a:ext cx="5257800" cy="1271016"/>
          </a:xfrm>
          <a:prstGeom prst="roundRect">
            <a:avLst>
              <a:gd name="adj" fmla="val 13000"/>
            </a:avLst>
          </a:prstGeom>
          <a:solidFill>
            <a:srgbClr val="FC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19088" y="4416552"/>
            <a:ext cx="612648" cy="612648"/>
          </a:xfrm>
          <a:prstGeom prst="ellipse">
            <a:avLst/>
          </a:prstGeom>
          <a:solidFill>
            <a:srgbClr val="C68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7376" y="4553712"/>
            <a:ext cx="566928" cy="24688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F4F7FF"/>
                </a:solidFill>
                <a:latin typeface="Inter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4361688"/>
            <a:ext cx="3931920" cy="40233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06152F"/>
                </a:solidFill>
                <a:latin typeface="Inter"/>
              </a:rPr>
              <a:t>Постройте маршрут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4882896"/>
            <a:ext cx="3895344" cy="36576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526584"/>
                </a:solidFill>
                <a:latin typeface="Inter"/>
              </a:rPr>
              <a:t>Геометрию пешего пути рассчитает Yandex MapKit.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" y="5870448"/>
            <a:ext cx="10972800" cy="356616"/>
          </a:xfrm>
          <a:prstGeom prst="roundRect">
            <a:avLst>
              <a:gd name="adj" fmla="val 15000"/>
            </a:avLst>
          </a:prstGeom>
          <a:solidFill>
            <a:srgbClr val="011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5907024"/>
            <a:ext cx="10597896" cy="256032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F4F7FF"/>
                </a:solidFill>
                <a:latin typeface="Inter"/>
              </a:rPr>
              <a:t>Smart Walk подбирает места; Yandex MapKit строит реальный пешеходный маршрут.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03504" y="6510528"/>
            <a:ext cx="10981944" cy="0"/>
          </a:xfrm>
          <a:prstGeom prst="line">
            <a:avLst/>
          </a:prstGeom>
          <a:ln w="6985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30936" y="6565392"/>
            <a:ext cx="9509760" cy="15544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526584"/>
                </a:solidFill>
                <a:latin typeface="Inter"/>
              </a:rPr>
              <a:t>ПЕТЕРБУРГ В ДЕТАЛЯХ  •  v1.1.1  •  26.10.2026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18520" y="6556248"/>
            <a:ext cx="521207" cy="20116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526584"/>
                </a:solidFill>
                <a:latin typeface="Inter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00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256032"/>
            <a:ext cx="8229600" cy="31089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F3C363"/>
                </a:solidFill>
                <a:latin typeface="Inter"/>
              </a:rPr>
              <a:t>04 / НАВИГАЦИЯ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3504" y="694944"/>
            <a:ext cx="10981944" cy="0"/>
          </a:xfrm>
          <a:prstGeom prst="line">
            <a:avLst/>
          </a:prstGeom>
          <a:ln w="8890">
            <a:solidFill>
              <a:srgbClr val="314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1792" y="960120"/>
            <a:ext cx="6995160" cy="1014984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100" b="1" i="0">
                <a:solidFill>
                  <a:srgbClr val="F4F7FF"/>
                </a:solidFill>
                <a:latin typeface="Inter"/>
              </a:rPr>
              <a:t>Пешеходный маршрут —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100" b="1" i="0">
                <a:solidFill>
                  <a:srgbClr val="F4F7FF"/>
                </a:solidFill>
                <a:latin typeface="Inter"/>
              </a:rPr>
              <a:t>на настоящей карте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04288"/>
            <a:ext cx="5495544" cy="77724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C3D0E8"/>
                </a:solidFill>
                <a:latin typeface="Inter"/>
              </a:rPr>
              <a:t>Маршрут, расстояние и время рассчитывает официальный Yandex MapKit.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3282696"/>
            <a:ext cx="201168" cy="201168"/>
          </a:xfrm>
          <a:prstGeom prst="ellipse">
            <a:avLst/>
          </a:prstGeom>
          <a:solidFill>
            <a:srgbClr val="F3C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3191256"/>
            <a:ext cx="5349240" cy="31089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4F7FF"/>
                </a:solidFill>
                <a:latin typeface="Inter"/>
              </a:rPr>
              <a:t>Пеший маршрут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3529584"/>
            <a:ext cx="5321808" cy="29260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C3D0E8"/>
                </a:solidFill>
                <a:latin typeface="Inter"/>
              </a:rPr>
              <a:t>Между выбранными точками.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4096511"/>
            <a:ext cx="201168" cy="201168"/>
          </a:xfrm>
          <a:prstGeom prst="ellipse">
            <a:avLst/>
          </a:prstGeom>
          <a:solidFill>
            <a:srgbClr val="F3C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4005072"/>
            <a:ext cx="5349240" cy="31089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4F7FF"/>
                </a:solidFill>
                <a:latin typeface="Inter"/>
              </a:rPr>
              <a:t>Подсказки по пути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4343399"/>
            <a:ext cx="5321808" cy="29260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C3D0E8"/>
                </a:solidFill>
                <a:latin typeface="Inter"/>
              </a:rPr>
              <a:t>GPS и инструкции для манёвров.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4910328"/>
            <a:ext cx="201168" cy="201168"/>
          </a:xfrm>
          <a:prstGeom prst="ellipse">
            <a:avLst/>
          </a:prstGeom>
          <a:solidFill>
            <a:srgbClr val="F3C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4818888"/>
            <a:ext cx="5349240" cy="31089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4F7FF"/>
                </a:solidFill>
                <a:latin typeface="Inter"/>
              </a:rPr>
              <a:t>Контроль отклонения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5157216"/>
            <a:ext cx="5321808" cy="29260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C3D0E8"/>
                </a:solidFill>
                <a:latin typeface="Inter"/>
              </a:rPr>
              <a:t>Перестроение запускается вручную.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1005840"/>
            <a:ext cx="4617720" cy="5239512"/>
          </a:xfrm>
          <a:prstGeom prst="roundRect">
            <a:avLst>
              <a:gd name="adj" fmla="val 11000"/>
            </a:avLst>
          </a:prstGeom>
          <a:solidFill>
            <a:srgbClr val="112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7086600" y="1179576"/>
            <a:ext cx="0" cy="4873752"/>
          </a:xfrm>
          <a:prstGeom prst="line">
            <a:avLst/>
          </a:prstGeom>
          <a:ln w="10160">
            <a:solidFill>
              <a:srgbClr val="335B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616952" y="1179576"/>
            <a:ext cx="0" cy="4873752"/>
          </a:xfrm>
          <a:prstGeom prst="line">
            <a:avLst/>
          </a:prstGeom>
          <a:ln w="10160">
            <a:solidFill>
              <a:srgbClr val="335B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147304" y="1179576"/>
            <a:ext cx="0" cy="4873752"/>
          </a:xfrm>
          <a:prstGeom prst="line">
            <a:avLst/>
          </a:prstGeom>
          <a:ln w="10160">
            <a:solidFill>
              <a:srgbClr val="335B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677656" y="1179576"/>
            <a:ext cx="0" cy="4873752"/>
          </a:xfrm>
          <a:prstGeom prst="line">
            <a:avLst/>
          </a:prstGeom>
          <a:ln w="10160">
            <a:solidFill>
              <a:srgbClr val="335B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208008" y="1179576"/>
            <a:ext cx="0" cy="4873752"/>
          </a:xfrm>
          <a:prstGeom prst="line">
            <a:avLst/>
          </a:prstGeom>
          <a:ln w="10160">
            <a:solidFill>
              <a:srgbClr val="335B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738360" y="1179576"/>
            <a:ext cx="0" cy="4873752"/>
          </a:xfrm>
          <a:prstGeom prst="line">
            <a:avLst/>
          </a:prstGeom>
          <a:ln w="10160">
            <a:solidFill>
              <a:srgbClr val="335B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268712" y="1179576"/>
            <a:ext cx="0" cy="4873752"/>
          </a:xfrm>
          <a:prstGeom prst="line">
            <a:avLst/>
          </a:prstGeom>
          <a:ln w="10160">
            <a:solidFill>
              <a:srgbClr val="335B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799063" y="1179576"/>
            <a:ext cx="0" cy="4873752"/>
          </a:xfrm>
          <a:prstGeom prst="line">
            <a:avLst/>
          </a:prstGeom>
          <a:ln w="10160">
            <a:solidFill>
              <a:srgbClr val="335B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329416" y="1179576"/>
            <a:ext cx="0" cy="4873752"/>
          </a:xfrm>
          <a:prstGeom prst="line">
            <a:avLst/>
          </a:prstGeom>
          <a:ln w="10160">
            <a:solidFill>
              <a:srgbClr val="335B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095744" y="1289304"/>
            <a:ext cx="4206240" cy="0"/>
          </a:xfrm>
          <a:prstGeom prst="line">
            <a:avLst/>
          </a:prstGeom>
          <a:ln w="10160">
            <a:solidFill>
              <a:srgbClr val="335B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095744" y="1938528"/>
            <a:ext cx="4206240" cy="0"/>
          </a:xfrm>
          <a:prstGeom prst="line">
            <a:avLst/>
          </a:prstGeom>
          <a:ln w="10160">
            <a:solidFill>
              <a:srgbClr val="335B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095744" y="2587752"/>
            <a:ext cx="4206240" cy="0"/>
          </a:xfrm>
          <a:prstGeom prst="line">
            <a:avLst/>
          </a:prstGeom>
          <a:ln w="10160">
            <a:solidFill>
              <a:srgbClr val="335B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095744" y="3236976"/>
            <a:ext cx="4206240" cy="0"/>
          </a:xfrm>
          <a:prstGeom prst="line">
            <a:avLst/>
          </a:prstGeom>
          <a:ln w="10160">
            <a:solidFill>
              <a:srgbClr val="335B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095744" y="3886200"/>
            <a:ext cx="4206240" cy="0"/>
          </a:xfrm>
          <a:prstGeom prst="line">
            <a:avLst/>
          </a:prstGeom>
          <a:ln w="10160">
            <a:solidFill>
              <a:srgbClr val="335B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095744" y="4535424"/>
            <a:ext cx="4206240" cy="0"/>
          </a:xfrm>
          <a:prstGeom prst="line">
            <a:avLst/>
          </a:prstGeom>
          <a:ln w="10160">
            <a:solidFill>
              <a:srgbClr val="335B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095744" y="5184648"/>
            <a:ext cx="4206240" cy="0"/>
          </a:xfrm>
          <a:prstGeom prst="line">
            <a:avLst/>
          </a:prstGeom>
          <a:ln w="10160">
            <a:solidFill>
              <a:srgbClr val="335B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095744" y="5833872"/>
            <a:ext cx="4206240" cy="0"/>
          </a:xfrm>
          <a:prstGeom prst="line">
            <a:avLst/>
          </a:prstGeom>
          <a:ln w="10160">
            <a:solidFill>
              <a:srgbClr val="335B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7351775" y="4773168"/>
            <a:ext cx="585217" cy="566928"/>
          </a:xfrm>
          <a:prstGeom prst="line">
            <a:avLst/>
          </a:prstGeom>
          <a:ln w="50800">
            <a:solidFill>
              <a:srgbClr val="F3C3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936992" y="4773168"/>
            <a:ext cx="393191" cy="228600"/>
          </a:xfrm>
          <a:prstGeom prst="line">
            <a:avLst/>
          </a:prstGeom>
          <a:ln w="50800">
            <a:solidFill>
              <a:srgbClr val="F3C3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330183" y="3959352"/>
            <a:ext cx="676657" cy="1042416"/>
          </a:xfrm>
          <a:prstGeom prst="line">
            <a:avLst/>
          </a:prstGeom>
          <a:ln w="50800">
            <a:solidFill>
              <a:srgbClr val="F3C3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006840" y="3959352"/>
            <a:ext cx="685800" cy="27432"/>
          </a:xfrm>
          <a:prstGeom prst="line">
            <a:avLst/>
          </a:prstGeom>
          <a:ln w="50800">
            <a:solidFill>
              <a:srgbClr val="F3C3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9692640" y="2761488"/>
            <a:ext cx="493776" cy="1225296"/>
          </a:xfrm>
          <a:prstGeom prst="line">
            <a:avLst/>
          </a:prstGeom>
          <a:ln w="50800">
            <a:solidFill>
              <a:srgbClr val="F3C3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0186416" y="2139696"/>
            <a:ext cx="612648" cy="621792"/>
          </a:xfrm>
          <a:prstGeom prst="line">
            <a:avLst/>
          </a:prstGeom>
          <a:ln w="50800">
            <a:solidFill>
              <a:srgbClr val="F3C3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7269479" y="5257800"/>
            <a:ext cx="164592" cy="164592"/>
          </a:xfrm>
          <a:prstGeom prst="ellipse">
            <a:avLst/>
          </a:prstGeom>
          <a:solidFill>
            <a:srgbClr val="01134C"/>
          </a:solidFill>
          <a:ln w="27940">
            <a:solidFill>
              <a:srgbClr val="F3C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854696" y="4690872"/>
            <a:ext cx="164592" cy="164592"/>
          </a:xfrm>
          <a:prstGeom prst="ellipse">
            <a:avLst/>
          </a:prstGeom>
          <a:solidFill>
            <a:srgbClr val="01134C"/>
          </a:solidFill>
          <a:ln w="27940">
            <a:solidFill>
              <a:srgbClr val="F3C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247888" y="4919472"/>
            <a:ext cx="164592" cy="164592"/>
          </a:xfrm>
          <a:prstGeom prst="ellipse">
            <a:avLst/>
          </a:prstGeom>
          <a:solidFill>
            <a:srgbClr val="01134C"/>
          </a:solidFill>
          <a:ln w="27940">
            <a:solidFill>
              <a:srgbClr val="F3C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924544" y="3877056"/>
            <a:ext cx="164592" cy="164592"/>
          </a:xfrm>
          <a:prstGeom prst="ellipse">
            <a:avLst/>
          </a:prstGeom>
          <a:solidFill>
            <a:srgbClr val="01134C"/>
          </a:solidFill>
          <a:ln w="27940">
            <a:solidFill>
              <a:srgbClr val="F3C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610344" y="3904488"/>
            <a:ext cx="164592" cy="164592"/>
          </a:xfrm>
          <a:prstGeom prst="ellipse">
            <a:avLst/>
          </a:prstGeom>
          <a:solidFill>
            <a:srgbClr val="01134C"/>
          </a:solidFill>
          <a:ln w="27940">
            <a:solidFill>
              <a:srgbClr val="F3C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104120" y="2679192"/>
            <a:ext cx="164592" cy="164592"/>
          </a:xfrm>
          <a:prstGeom prst="ellipse">
            <a:avLst/>
          </a:prstGeom>
          <a:solidFill>
            <a:srgbClr val="01134C"/>
          </a:solidFill>
          <a:ln w="27940">
            <a:solidFill>
              <a:srgbClr val="F3C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716768" y="2057400"/>
            <a:ext cx="164592" cy="164592"/>
          </a:xfrm>
          <a:prstGeom prst="ellipse">
            <a:avLst/>
          </a:prstGeom>
          <a:solidFill>
            <a:srgbClr val="01134C"/>
          </a:solidFill>
          <a:ln w="27940">
            <a:solidFill>
              <a:srgbClr val="F3C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757916" y="2098548"/>
            <a:ext cx="82296" cy="82296"/>
          </a:xfrm>
          <a:prstGeom prst="ellipse">
            <a:avLst/>
          </a:prstGeom>
          <a:solidFill>
            <a:srgbClr val="F3C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406640" y="1417320"/>
            <a:ext cx="3502152" cy="365760"/>
          </a:xfrm>
          <a:prstGeom prst="roundRect">
            <a:avLst>
              <a:gd name="adj" fmla="val 27000"/>
            </a:avLst>
          </a:prstGeom>
          <a:solidFill>
            <a:srgbClr val="011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25512" y="1440180"/>
            <a:ext cx="3264408" cy="32004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A8E8FC"/>
                </a:solidFill>
                <a:latin typeface="Inter"/>
              </a:rPr>
              <a:t>Иллюстрация маршрута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61504" y="6035040"/>
            <a:ext cx="3456432" cy="22860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C3D0E8"/>
                </a:solidFill>
                <a:latin typeface="Inter"/>
              </a:rPr>
              <a:t>СХЕМА, НЕ КАРТА ЯНДЕКСА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03504" y="6510528"/>
            <a:ext cx="10981944" cy="0"/>
          </a:xfrm>
          <a:prstGeom prst="line">
            <a:avLst/>
          </a:prstGeom>
          <a:ln w="6985">
            <a:solidFill>
              <a:srgbClr val="25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30936" y="6565392"/>
            <a:ext cx="9509760" cy="15544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9FB0CD"/>
                </a:solidFill>
                <a:latin typeface="Inter"/>
              </a:rPr>
              <a:t>ПЕТЕРБУРГ В ДЕТАЛЯХ  •  v1.1.1  •  26.10.2026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018520" y="6556248"/>
            <a:ext cx="521207" cy="20116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9FB0CD"/>
                </a:solidFill>
                <a:latin typeface="Inter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ED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256032"/>
            <a:ext cx="8229600" cy="31089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0049B3"/>
                </a:solidFill>
                <a:latin typeface="Inter"/>
              </a:rPr>
              <a:t>05 / ГОРОДСКИЕ ПРОСТРАНСТВА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3504" y="694944"/>
            <a:ext cx="10981944" cy="0"/>
          </a:xfrm>
          <a:prstGeom prst="line">
            <a:avLst/>
          </a:prstGeom>
          <a:ln w="889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2648" y="969264"/>
            <a:ext cx="10881360" cy="99669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300" b="1" i="0">
                <a:solidFill>
                  <a:srgbClr val="06152F"/>
                </a:solidFill>
                <a:latin typeface="Inter"/>
              </a:rPr>
              <a:t>Красота бывает по дороге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" y="1901952"/>
            <a:ext cx="10607040" cy="512064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526584"/>
                </a:solidFill>
                <a:latin typeface="Inter"/>
              </a:rPr>
              <a:t>Подбор прогулки учитывает пространства, ради которых приятно идти пешком.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697480"/>
            <a:ext cx="3602736" cy="2734056"/>
          </a:xfrm>
          <a:prstGeom prst="roundRect">
            <a:avLst>
              <a:gd name="adj" fmla="val 11000"/>
            </a:avLst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72" y="2871216"/>
            <a:ext cx="3246120" cy="1197864"/>
          </a:xfrm>
          <a:prstGeom prst="roundRect">
            <a:avLst>
              <a:gd name="adj" fmla="val 11000"/>
            </a:avLst>
          </a:prstGeom>
          <a:solidFill>
            <a:srgbClr val="D7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932688" y="3401568"/>
            <a:ext cx="2907792" cy="0"/>
          </a:xfrm>
          <a:prstGeom prst="line">
            <a:avLst/>
          </a:prstGeom>
          <a:ln w="20320">
            <a:solidFill>
              <a:srgbClr val="026D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32688" y="3547872"/>
            <a:ext cx="2907792" cy="0"/>
          </a:xfrm>
          <a:prstGeom prst="line">
            <a:avLst/>
          </a:prstGeom>
          <a:ln w="20320">
            <a:solidFill>
              <a:srgbClr val="026D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32688" y="3694176"/>
            <a:ext cx="2907792" cy="0"/>
          </a:xfrm>
          <a:prstGeom prst="line">
            <a:avLst/>
          </a:prstGeom>
          <a:ln w="20320">
            <a:solidFill>
              <a:srgbClr val="026D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32688" y="3840480"/>
            <a:ext cx="2907792" cy="0"/>
          </a:xfrm>
          <a:prstGeom prst="line">
            <a:avLst/>
          </a:prstGeom>
          <a:ln w="20320">
            <a:solidFill>
              <a:srgbClr val="026D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960120" y="3035808"/>
            <a:ext cx="356616" cy="365760"/>
          </a:xfrm>
          <a:prstGeom prst="rect">
            <a:avLst/>
          </a:prstGeom>
          <a:solidFill>
            <a:srgbClr val="011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45336" y="3035808"/>
            <a:ext cx="356616" cy="365760"/>
          </a:xfrm>
          <a:prstGeom prst="rect">
            <a:avLst/>
          </a:prstGeom>
          <a:solidFill>
            <a:srgbClr val="011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30552" y="3035808"/>
            <a:ext cx="356616" cy="365760"/>
          </a:xfrm>
          <a:prstGeom prst="rect">
            <a:avLst/>
          </a:prstGeom>
          <a:solidFill>
            <a:srgbClr val="011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15768" y="3035808"/>
            <a:ext cx="356616" cy="365760"/>
          </a:xfrm>
          <a:prstGeom prst="rect">
            <a:avLst/>
          </a:prstGeom>
          <a:solidFill>
            <a:srgbClr val="011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00984" y="3035808"/>
            <a:ext cx="356616" cy="365760"/>
          </a:xfrm>
          <a:prstGeom prst="rect">
            <a:avLst/>
          </a:prstGeom>
          <a:solidFill>
            <a:srgbClr val="011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343400"/>
            <a:ext cx="3191256" cy="329184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0049B3"/>
                </a:solidFill>
                <a:latin typeface="Inter"/>
              </a:rPr>
              <a:t>НАБЕРЕЖНЫЕ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690872"/>
            <a:ext cx="3182112" cy="42976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526584"/>
                </a:solidFill>
                <a:latin typeface="Inter"/>
              </a:rPr>
              <a:t>Смена перспектив и открытая вода.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62272" y="2697480"/>
            <a:ext cx="3602736" cy="2734056"/>
          </a:xfrm>
          <a:prstGeom prst="roundRect">
            <a:avLst>
              <a:gd name="adj" fmla="val 11000"/>
            </a:avLst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645152" y="2871216"/>
            <a:ext cx="3246120" cy="1197864"/>
          </a:xfrm>
          <a:prstGeom prst="roundRect">
            <a:avLst>
              <a:gd name="adj" fmla="val 11000"/>
            </a:avLst>
          </a:prstGeom>
          <a:solidFill>
            <a:srgbClr val="DA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54880" y="3099816"/>
            <a:ext cx="320040" cy="566928"/>
          </a:xfrm>
          <a:prstGeom prst="rect">
            <a:avLst/>
          </a:prstGeom>
          <a:solidFill>
            <a:srgbClr val="004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 flipV="1">
            <a:off x="4754880" y="2871216"/>
            <a:ext cx="155448" cy="192024"/>
          </a:xfrm>
          <a:prstGeom prst="line">
            <a:avLst/>
          </a:prstGeom>
          <a:ln w="15240">
            <a:solidFill>
              <a:srgbClr val="6B9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266944" y="3099816"/>
            <a:ext cx="320040" cy="566928"/>
          </a:xfrm>
          <a:prstGeom prst="rect">
            <a:avLst/>
          </a:prstGeom>
          <a:solidFill>
            <a:srgbClr val="518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 flipV="1">
            <a:off x="5266944" y="2871216"/>
            <a:ext cx="155448" cy="192024"/>
          </a:xfrm>
          <a:prstGeom prst="line">
            <a:avLst/>
          </a:prstGeom>
          <a:ln w="15240">
            <a:solidFill>
              <a:srgbClr val="6B9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779008" y="3099816"/>
            <a:ext cx="320040" cy="566928"/>
          </a:xfrm>
          <a:prstGeom prst="rect">
            <a:avLst/>
          </a:prstGeom>
          <a:solidFill>
            <a:srgbClr val="004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 flipV="1">
            <a:off x="5779008" y="2871216"/>
            <a:ext cx="155448" cy="192024"/>
          </a:xfrm>
          <a:prstGeom prst="line">
            <a:avLst/>
          </a:prstGeom>
          <a:ln w="15240">
            <a:solidFill>
              <a:srgbClr val="6B9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291072" y="3099816"/>
            <a:ext cx="320040" cy="566928"/>
          </a:xfrm>
          <a:prstGeom prst="rect">
            <a:avLst/>
          </a:prstGeom>
          <a:solidFill>
            <a:srgbClr val="518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 flipV="1">
            <a:off x="6291072" y="2871216"/>
            <a:ext cx="155448" cy="192024"/>
          </a:xfrm>
          <a:prstGeom prst="line">
            <a:avLst/>
          </a:prstGeom>
          <a:ln w="15240">
            <a:solidFill>
              <a:srgbClr val="6B9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6803136" y="3099816"/>
            <a:ext cx="320040" cy="566928"/>
          </a:xfrm>
          <a:prstGeom prst="rect">
            <a:avLst/>
          </a:prstGeom>
          <a:solidFill>
            <a:srgbClr val="004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 flipV="1">
            <a:off x="6803136" y="2871216"/>
            <a:ext cx="155448" cy="192024"/>
          </a:xfrm>
          <a:prstGeom prst="line">
            <a:avLst/>
          </a:prstGeom>
          <a:ln w="15240">
            <a:solidFill>
              <a:srgbClr val="6B9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7315200" y="3099816"/>
            <a:ext cx="320040" cy="566928"/>
          </a:xfrm>
          <a:prstGeom prst="rect">
            <a:avLst/>
          </a:prstGeom>
          <a:solidFill>
            <a:srgbClr val="518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 flipV="1">
            <a:off x="7315200" y="2871216"/>
            <a:ext cx="155448" cy="192024"/>
          </a:xfrm>
          <a:prstGeom prst="line">
            <a:avLst/>
          </a:prstGeom>
          <a:ln w="15240">
            <a:solidFill>
              <a:srgbClr val="6B9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828032" y="3904487"/>
            <a:ext cx="2798064" cy="0"/>
          </a:xfrm>
          <a:prstGeom prst="line">
            <a:avLst/>
          </a:prstGeom>
          <a:ln w="25400">
            <a:solidFill>
              <a:srgbClr val="011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663440" y="4343400"/>
            <a:ext cx="3191256" cy="329184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0049B3"/>
                </a:solidFill>
                <a:latin typeface="Inter"/>
              </a:rPr>
              <a:t>ПЕШЕХОДНЫЕ УЛИЦЫ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4690872"/>
            <a:ext cx="3182112" cy="42976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526584"/>
                </a:solidFill>
                <a:latin typeface="Inter"/>
              </a:rPr>
              <a:t>Детали, которые замечаешь без спешки.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02752" y="2697480"/>
            <a:ext cx="3602736" cy="2734056"/>
          </a:xfrm>
          <a:prstGeom prst="roundRect">
            <a:avLst>
              <a:gd name="adj" fmla="val 11000"/>
            </a:avLst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485632" y="2871216"/>
            <a:ext cx="3246120" cy="1197864"/>
          </a:xfrm>
          <a:prstGeom prst="roundRect">
            <a:avLst>
              <a:gd name="adj" fmla="val 11000"/>
            </a:avLst>
          </a:prstGeom>
          <a:solidFill>
            <a:srgbClr val="F8EC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805672" y="3429000"/>
            <a:ext cx="2587752" cy="228600"/>
          </a:xfrm>
          <a:prstGeom prst="rect">
            <a:avLst/>
          </a:prstGeom>
          <a:solidFill>
            <a:srgbClr val="BC8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884664" y="3108960"/>
            <a:ext cx="658368" cy="658368"/>
          </a:xfrm>
          <a:prstGeom prst="ellipse">
            <a:avLst/>
          </a:prstGeom>
          <a:solidFill>
            <a:srgbClr val="F3C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003536" y="2898648"/>
            <a:ext cx="411480" cy="347472"/>
          </a:xfrm>
          <a:prstGeom prst="rect">
            <a:avLst/>
          </a:prstGeom>
          <a:solidFill>
            <a:srgbClr val="AE7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03920" y="4343400"/>
            <a:ext cx="3191256" cy="329184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0049B3"/>
                </a:solidFill>
                <a:latin typeface="Inter"/>
              </a:rPr>
              <a:t>ПЛОЩАДИ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0" y="4690872"/>
            <a:ext cx="3182112" cy="42976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526584"/>
                </a:solidFill>
                <a:latin typeface="Inter"/>
              </a:rPr>
              <a:t>Место для остановки и нового взгляда.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0936" y="5705856"/>
            <a:ext cx="10954512" cy="429768"/>
          </a:xfrm>
          <a:prstGeom prst="roundRect">
            <a:avLst>
              <a:gd name="adj" fmla="val 9000"/>
            </a:avLst>
          </a:prstGeom>
          <a:solidFill>
            <a:srgbClr val="011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8680" y="5760720"/>
            <a:ext cx="10506456" cy="27432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30" b="1" i="0">
                <a:solidFill>
                  <a:srgbClr val="F4F7FF"/>
                </a:solidFill>
                <a:latin typeface="Inter"/>
              </a:rPr>
              <a:t>Приоритет scenic-мест опирается на подготовленные данные OSM — это не гарантия «самого красивого» маршрута.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03504" y="6510528"/>
            <a:ext cx="10981944" cy="0"/>
          </a:xfrm>
          <a:prstGeom prst="line">
            <a:avLst/>
          </a:prstGeom>
          <a:ln w="6985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30936" y="6565392"/>
            <a:ext cx="9509760" cy="15544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526584"/>
                </a:solidFill>
                <a:latin typeface="Inter"/>
              </a:rPr>
              <a:t>ПЕТЕРБУРГ В ДЕТАЛЯХ  •  v1.1.1  •  26.10.2026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18520" y="6556248"/>
            <a:ext cx="521207" cy="20116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526584"/>
                </a:solidFill>
                <a:latin typeface="Inter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256032"/>
            <a:ext cx="8229600" cy="31089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0049B3"/>
                </a:solidFill>
                <a:latin typeface="Inter"/>
              </a:rPr>
              <a:t>06 / ДОПОЛНИТЕЛЬНЫЕ ОЦЕНКИ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3504" y="694944"/>
            <a:ext cx="10981944" cy="0"/>
          </a:xfrm>
          <a:prstGeom prst="line">
            <a:avLst/>
          </a:prstGeom>
          <a:ln w="889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2648" y="969264"/>
            <a:ext cx="10881360" cy="99669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300" b="1" i="0">
                <a:solidFill>
                  <a:srgbClr val="06152F"/>
                </a:solidFill>
                <a:latin typeface="Inter"/>
              </a:rPr>
              <a:t>Четыре взгляда на условия прогулки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" y="1901952"/>
            <a:ext cx="10607040" cy="512064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526584"/>
                </a:solidFill>
                <a:latin typeface="Inter"/>
              </a:rPr>
              <a:t>Экологические движки оценивают уже построенный путь, а не выбирают маршрут.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615184"/>
            <a:ext cx="2688336" cy="2807208"/>
          </a:xfrm>
          <a:prstGeom prst="roundRect">
            <a:avLst>
              <a:gd name="adj" fmla="val 10000"/>
            </a:avLst>
          </a:prstGeom>
          <a:solidFill>
            <a:srgbClr val="FC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32104" y="2871216"/>
            <a:ext cx="777240" cy="777240"/>
          </a:xfrm>
          <a:prstGeom prst="ellipse">
            <a:avLst/>
          </a:prstGeom>
          <a:solidFill>
            <a:srgbClr val="F7E5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8992" y="3118104"/>
            <a:ext cx="292608" cy="292608"/>
          </a:xfrm>
          <a:prstGeom prst="ellipse">
            <a:avLst/>
          </a:prstGeom>
          <a:solidFill>
            <a:srgbClr val="F3C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822960" y="3300984"/>
            <a:ext cx="173736" cy="182880"/>
          </a:xfrm>
          <a:prstGeom prst="line">
            <a:avLst/>
          </a:prstGeom>
          <a:ln w="16510">
            <a:solidFill>
              <a:srgbClr val="B77C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32104" y="3831336"/>
            <a:ext cx="2221992" cy="210312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B77C1A"/>
                </a:solidFill>
                <a:latin typeface="Inter"/>
              </a:rPr>
              <a:t>SHADE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4197096"/>
            <a:ext cx="2249424" cy="36576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06152F"/>
                </a:solidFill>
                <a:latin typeface="Inter"/>
              </a:rPr>
              <a:t>Тень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4654296"/>
            <a:ext cx="2194560" cy="58521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526584"/>
                </a:solidFill>
                <a:latin typeface="Inter"/>
              </a:rPr>
              <a:t>Геометрическая оценка затенённости зданиями.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11296" y="2615184"/>
            <a:ext cx="2688336" cy="2807208"/>
          </a:xfrm>
          <a:prstGeom prst="roundRect">
            <a:avLst>
              <a:gd name="adj" fmla="val 10000"/>
            </a:avLst>
          </a:prstGeom>
          <a:solidFill>
            <a:srgbClr val="FC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721608" y="2871216"/>
            <a:ext cx="777240" cy="777240"/>
          </a:xfrm>
          <a:prstGeom prst="ellipse">
            <a:avLst/>
          </a:prstGeom>
          <a:solidFill>
            <a:srgbClr val="C8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3867912" y="3090672"/>
            <a:ext cx="466344" cy="0"/>
          </a:xfrm>
          <a:prstGeom prst="line">
            <a:avLst/>
          </a:prstGeom>
          <a:ln w="20320">
            <a:solidFill>
              <a:srgbClr val="2469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867912" y="3218688"/>
            <a:ext cx="466344" cy="0"/>
          </a:xfrm>
          <a:prstGeom prst="line">
            <a:avLst/>
          </a:prstGeom>
          <a:ln w="20320">
            <a:solidFill>
              <a:srgbClr val="2469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867912" y="3346704"/>
            <a:ext cx="466344" cy="0"/>
          </a:xfrm>
          <a:prstGeom prst="line">
            <a:avLst/>
          </a:prstGeom>
          <a:ln w="20320">
            <a:solidFill>
              <a:srgbClr val="2469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721608" y="3831336"/>
            <a:ext cx="2221992" cy="210312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246987"/>
                </a:solidFill>
                <a:latin typeface="Inter"/>
              </a:rPr>
              <a:t>QUIET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21608" y="4197096"/>
            <a:ext cx="2249424" cy="36576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06152F"/>
                </a:solidFill>
                <a:latin typeface="Inter"/>
              </a:rPr>
              <a:t>Тишина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21608" y="4654296"/>
            <a:ext cx="2194560" cy="58521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526584"/>
                </a:solidFill>
                <a:latin typeface="Inter"/>
              </a:rPr>
              <a:t>Относительный прокси близости к дорогам.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615184"/>
            <a:ext cx="2688336" cy="2807208"/>
          </a:xfrm>
          <a:prstGeom prst="roundRect">
            <a:avLst>
              <a:gd name="adj" fmla="val 10000"/>
            </a:avLst>
          </a:prstGeom>
          <a:solidFill>
            <a:srgbClr val="FC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611112" y="2871216"/>
            <a:ext cx="777240" cy="777240"/>
          </a:xfrm>
          <a:prstGeom prst="ellipse">
            <a:avLst/>
          </a:prstGeom>
          <a:solidFill>
            <a:srgbClr val="DFE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729984" y="3090672"/>
            <a:ext cx="118872" cy="118872"/>
          </a:xfrm>
          <a:prstGeom prst="ellipse">
            <a:avLst/>
          </a:prstGeom>
          <a:solidFill>
            <a:srgbClr val="026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931152" y="3209544"/>
            <a:ext cx="118872" cy="118872"/>
          </a:xfrm>
          <a:prstGeom prst="ellipse">
            <a:avLst/>
          </a:prstGeom>
          <a:solidFill>
            <a:srgbClr val="026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11112" y="3831336"/>
            <a:ext cx="2221992" cy="210312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4B6BB6"/>
                </a:solidFill>
                <a:latin typeface="Inter"/>
              </a:rPr>
              <a:t>PUDDLE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11112" y="4197096"/>
            <a:ext cx="2249424" cy="36576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06152F"/>
                </a:solidFill>
                <a:latin typeface="Inter"/>
              </a:rPr>
              <a:t>Лужи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11112" y="4654296"/>
            <a:ext cx="2194560" cy="58521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526584"/>
                </a:solidFill>
                <a:latin typeface="Inter"/>
              </a:rPr>
              <a:t>Модельная склонность участков к намоканию.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90304" y="2615184"/>
            <a:ext cx="2688336" cy="2807208"/>
          </a:xfrm>
          <a:prstGeom prst="roundRect">
            <a:avLst>
              <a:gd name="adj" fmla="val 10000"/>
            </a:avLst>
          </a:prstGeom>
          <a:solidFill>
            <a:srgbClr val="FC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500616" y="2871216"/>
            <a:ext cx="777240" cy="777240"/>
          </a:xfrm>
          <a:prstGeom prst="ellipse">
            <a:avLst/>
          </a:prstGeom>
          <a:solidFill>
            <a:srgbClr val="E7E9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 flipH="1">
            <a:off x="9692640" y="3063240"/>
            <a:ext cx="91440" cy="365760"/>
          </a:xfrm>
          <a:prstGeom prst="line">
            <a:avLst/>
          </a:prstGeom>
          <a:ln w="17780">
            <a:solidFill>
              <a:srgbClr val="717F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784080" y="3063240"/>
            <a:ext cx="9144" cy="365760"/>
          </a:xfrm>
          <a:prstGeom prst="line">
            <a:avLst/>
          </a:prstGeom>
          <a:ln w="17780">
            <a:solidFill>
              <a:srgbClr val="717F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784080" y="3063240"/>
            <a:ext cx="109728" cy="365760"/>
          </a:xfrm>
          <a:prstGeom prst="line">
            <a:avLst/>
          </a:prstGeom>
          <a:ln w="17780">
            <a:solidFill>
              <a:srgbClr val="717F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9500616" y="3831336"/>
            <a:ext cx="2221992" cy="210312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717F36"/>
                </a:solidFill>
                <a:latin typeface="Inter"/>
              </a:rPr>
              <a:t>POLLEN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0616" y="4197096"/>
            <a:ext cx="2249424" cy="36576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06152F"/>
                </a:solidFill>
                <a:latin typeface="Inter"/>
              </a:rPr>
              <a:t>Пыльца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0616" y="4654296"/>
            <a:ext cx="2194560" cy="58521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526584"/>
                </a:solidFill>
                <a:latin typeface="Inter"/>
              </a:rPr>
              <a:t>Моделируемые фоновые концентрации CAMS.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" y="5669280"/>
            <a:ext cx="10972800" cy="484632"/>
          </a:xfrm>
          <a:prstGeom prst="roundRect">
            <a:avLst>
              <a:gd name="adj" fmla="val 13000"/>
            </a:avLst>
          </a:prstGeom>
          <a:solidFill>
            <a:srgbClr val="011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0392" y="5760720"/>
            <a:ext cx="10533888" cy="26517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19" b="1" i="0">
                <a:solidFill>
                  <a:srgbClr val="F4F7FF"/>
                </a:solidFill>
                <a:latin typeface="Inter"/>
              </a:rPr>
              <a:t>Важно: это расчётные модели, а не измерения на месте и не гарантия комфортного или безопасного маршрута.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03504" y="6510528"/>
            <a:ext cx="10981944" cy="0"/>
          </a:xfrm>
          <a:prstGeom prst="line">
            <a:avLst/>
          </a:prstGeom>
          <a:ln w="6985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30936" y="6565392"/>
            <a:ext cx="9509760" cy="15544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526584"/>
                </a:solidFill>
                <a:latin typeface="Inter"/>
              </a:rPr>
              <a:t>ПЕТЕРБУРГ В ДЕТАЛЯХ  •  v1.1.1  •  26.10.2026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18520" y="6556248"/>
            <a:ext cx="521207" cy="20116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526584"/>
                </a:solidFill>
                <a:latin typeface="Inter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00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256032"/>
            <a:ext cx="8229600" cy="31089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F3C363"/>
                </a:solidFill>
                <a:latin typeface="Inter"/>
              </a:rPr>
              <a:t>07 / ИЗУЧАЙТЕ И СЛУШАЙТЕ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3504" y="694944"/>
            <a:ext cx="10981944" cy="0"/>
          </a:xfrm>
          <a:prstGeom prst="line">
            <a:avLst/>
          </a:prstGeom>
          <a:ln w="8890">
            <a:solidFill>
              <a:srgbClr val="314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987552"/>
            <a:ext cx="10241280" cy="1033271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100" b="1" i="0">
                <a:solidFill>
                  <a:srgbClr val="F4F7FF"/>
                </a:solidFill>
                <a:latin typeface="Inter"/>
              </a:rPr>
              <a:t>У города есть истории.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100" b="1" i="0">
                <a:solidFill>
                  <a:srgbClr val="F4F7FF"/>
                </a:solidFill>
                <a:latin typeface="Inter"/>
              </a:rPr>
              <a:t>У прогулки — голос.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2807208"/>
            <a:ext cx="5193792" cy="2898648"/>
          </a:xfrm>
          <a:prstGeom prst="roundRect">
            <a:avLst>
              <a:gd name="adj" fmla="val 10000"/>
            </a:avLst>
          </a:prstGeom>
          <a:solidFill>
            <a:srgbClr val="011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3099816"/>
            <a:ext cx="4215384" cy="758952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5400" b="1" i="0">
                <a:solidFill>
                  <a:srgbClr val="F3C363"/>
                </a:solidFill>
                <a:latin typeface="Inter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4023360"/>
            <a:ext cx="4416552" cy="438912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900" b="1" i="0">
                <a:solidFill>
                  <a:srgbClr val="F4F7FF"/>
                </a:solidFill>
                <a:latin typeface="Inter"/>
              </a:rPr>
              <a:t>исторических справок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4681728"/>
            <a:ext cx="4453128" cy="73152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C3D0E8"/>
                </a:solidFill>
                <a:latin typeface="Inter"/>
              </a:rPr>
              <a:t>Дополнительный контекст для части мест редакционного каталога.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9904" y="2807208"/>
            <a:ext cx="5449824" cy="2898648"/>
          </a:xfrm>
          <a:prstGeom prst="roundRect">
            <a:avLst>
              <a:gd name="adj" fmla="val 10000"/>
            </a:avLst>
          </a:prstGeom>
          <a:solidFill>
            <a:srgbClr val="112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3182112"/>
            <a:ext cx="4599432" cy="374904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900" b="1" i="0">
                <a:solidFill>
                  <a:srgbClr val="F4F7FF"/>
                </a:solidFill>
                <a:latin typeface="Inter"/>
              </a:rPr>
              <a:t>Голосовой поиск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9944" y="3767328"/>
            <a:ext cx="4690872" cy="53949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C3D0E8"/>
                </a:solidFill>
                <a:latin typeface="Inter"/>
              </a:rPr>
              <a:t>Системный распознаватель Android, после согласия пользователя.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37376" y="4599432"/>
            <a:ext cx="4645152" cy="0"/>
          </a:xfrm>
          <a:prstGeom prst="line">
            <a:avLst/>
          </a:prstGeom>
          <a:ln w="10160">
            <a:solidFill>
              <a:srgbClr val="416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9944" y="4709160"/>
            <a:ext cx="4626864" cy="40233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900" b="1" i="0">
                <a:solidFill>
                  <a:srgbClr val="F4F7FF"/>
                </a:solidFill>
                <a:latin typeface="Inter"/>
              </a:rPr>
              <a:t>Голосовые подсказки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5221224"/>
            <a:ext cx="4727448" cy="347472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C3D0E8"/>
                </a:solidFill>
                <a:latin typeface="Inter"/>
              </a:rPr>
              <a:t>Озвучивание системным Android TTS.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3504" y="6510528"/>
            <a:ext cx="10981944" cy="0"/>
          </a:xfrm>
          <a:prstGeom prst="line">
            <a:avLst/>
          </a:prstGeom>
          <a:ln w="6985">
            <a:solidFill>
              <a:srgbClr val="25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30936" y="6565392"/>
            <a:ext cx="9509760" cy="15544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9FB0CD"/>
                </a:solidFill>
                <a:latin typeface="Inter"/>
              </a:rPr>
              <a:t>ПЕТЕРБУРГ В ДЕТАЛЯХ  •  v1.1.1  •  26.10.2026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8520" y="6556248"/>
            <a:ext cx="521207" cy="20116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9FB0CD"/>
                </a:solidFill>
                <a:latin typeface="Inter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C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256032"/>
            <a:ext cx="8229600" cy="31089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0049B3"/>
                </a:solidFill>
                <a:latin typeface="Inter"/>
              </a:rPr>
              <a:t>08 / ОПЦИОНАЛЬНЫЙ ПОМОЩНИК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3504" y="694944"/>
            <a:ext cx="10981944" cy="0"/>
          </a:xfrm>
          <a:prstGeom prst="line">
            <a:avLst/>
          </a:prstGeom>
          <a:ln w="889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2648" y="969264"/>
            <a:ext cx="10881360" cy="99669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300" b="1" i="0">
                <a:solidFill>
                  <a:srgbClr val="06152F"/>
                </a:solidFill>
                <a:latin typeface="Inter"/>
              </a:rPr>
              <a:t>Можно спросить о городе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" y="1901952"/>
            <a:ext cx="10607040" cy="512064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526584"/>
                </a:solidFill>
                <a:latin typeface="Inter"/>
              </a:rPr>
              <a:t>Текстовый ИИ-помощник — дополнительная функция, а не условие работы карты.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97480"/>
            <a:ext cx="6720840" cy="2935224"/>
          </a:xfrm>
          <a:prstGeom prst="roundRect">
            <a:avLst>
              <a:gd name="adj" fmla="val 12000"/>
            </a:avLst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05840" y="2944368"/>
            <a:ext cx="4709160" cy="576072"/>
          </a:xfrm>
          <a:prstGeom prst="roundRect">
            <a:avLst>
              <a:gd name="adj" fmla="val 17000"/>
            </a:avLst>
          </a:prstGeom>
          <a:solidFill>
            <a:srgbClr val="ED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25296" y="3035808"/>
            <a:ext cx="4169663" cy="301752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06152F"/>
                </a:solidFill>
                <a:latin typeface="Inter"/>
              </a:rPr>
              <a:t>Хочу узнать больше об этом месте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00784" y="3749039"/>
            <a:ext cx="5202936" cy="749808"/>
          </a:xfrm>
          <a:prstGeom prst="roundRect">
            <a:avLst>
              <a:gd name="adj" fmla="val 17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83664" y="3831336"/>
            <a:ext cx="4846320" cy="521207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20" b="0" i="0">
                <a:solidFill>
                  <a:srgbClr val="526584"/>
                </a:solidFill>
                <a:latin typeface="Inter"/>
              </a:rPr>
              <a:t>Помощник может дополнить контекст,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20" b="0" i="0">
                <a:solidFill>
                  <a:srgbClr val="526584"/>
                </a:solidFill>
                <a:latin typeface="Inter"/>
              </a:rPr>
              <a:t>но ответы следует проверять.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020056"/>
            <a:ext cx="6071616" cy="347472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526584"/>
                </a:solidFill>
                <a:latin typeface="Inter"/>
              </a:rPr>
              <a:t>Иллюстрация диалога · не реальный ответ модели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16952" y="2788920"/>
            <a:ext cx="3931920" cy="822960"/>
          </a:xfrm>
          <a:prstGeom prst="roundRect">
            <a:avLst>
              <a:gd name="adj" fmla="val 12000"/>
            </a:avLst>
          </a:prstGeom>
          <a:solidFill>
            <a:srgbClr val="011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45552" y="2880360"/>
            <a:ext cx="3438144" cy="17373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F3C363"/>
                </a:solidFill>
                <a:latin typeface="Inter"/>
              </a:rPr>
              <a:t>СОГЛАСИЕ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45552" y="3136391"/>
            <a:ext cx="3419856" cy="301752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10" b="0" i="0">
                <a:solidFill>
                  <a:srgbClr val="F4F7FF"/>
                </a:solidFill>
                <a:latin typeface="Inter"/>
              </a:rPr>
              <a:t>До первого вопроса.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16952" y="3749039"/>
            <a:ext cx="3931920" cy="822960"/>
          </a:xfrm>
          <a:prstGeom prst="roundRect">
            <a:avLst>
              <a:gd name="adj" fmla="val 12000"/>
            </a:avLst>
          </a:prstGeom>
          <a:solidFill>
            <a:srgbClr val="011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45552" y="3840479"/>
            <a:ext cx="3438144" cy="17373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F3C363"/>
                </a:solidFill>
                <a:latin typeface="Inter"/>
              </a:rPr>
              <a:t>FREE-МОДЕЛЬ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5552" y="4096511"/>
            <a:ext cx="3419856" cy="301752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10" b="0" i="0">
                <a:solidFill>
                  <a:srgbClr val="F4F7FF"/>
                </a:solidFill>
                <a:latin typeface="Inter"/>
              </a:rPr>
              <a:t>Доступность зависит от поставщика.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16952" y="4709160"/>
            <a:ext cx="3931920" cy="822960"/>
          </a:xfrm>
          <a:prstGeom prst="roundRect">
            <a:avLst>
              <a:gd name="adj" fmla="val 12000"/>
            </a:avLst>
          </a:prstGeom>
          <a:solidFill>
            <a:srgbClr val="011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45552" y="4800600"/>
            <a:ext cx="3438144" cy="17373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F3C363"/>
                </a:solidFill>
                <a:latin typeface="Inter"/>
              </a:rPr>
              <a:t>НЕЗАВИСИМО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45552" y="5056632"/>
            <a:ext cx="3419856" cy="301752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10" b="0" i="0">
                <a:solidFill>
                  <a:srgbClr val="F4F7FF"/>
                </a:solidFill>
                <a:latin typeface="Inter"/>
              </a:rPr>
              <a:t>Карта и прогулки работают без ИИ.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788152"/>
            <a:ext cx="10908792" cy="347472"/>
          </a:xfrm>
          <a:prstGeom prst="roundRect">
            <a:avLst>
              <a:gd name="adj" fmla="val 10000"/>
            </a:avLst>
          </a:prstGeom>
          <a:solidFill>
            <a:srgbClr val="F5E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5843016"/>
            <a:ext cx="10424160" cy="24688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30" b="1" i="0">
                <a:solidFill>
                  <a:srgbClr val="88550E"/>
                </a:solidFill>
                <a:latin typeface="Inter"/>
              </a:rPr>
              <a:t>ИИ может ошибаться или быть недоступен — его ответы не заменяют проверенные сведения каталога.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3504" y="6510528"/>
            <a:ext cx="10981944" cy="0"/>
          </a:xfrm>
          <a:prstGeom prst="line">
            <a:avLst/>
          </a:prstGeom>
          <a:ln w="6985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30936" y="6565392"/>
            <a:ext cx="9509760" cy="15544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526584"/>
                </a:solidFill>
                <a:latin typeface="Inter"/>
              </a:rPr>
              <a:t>ПЕТЕРБУРГ В ДЕТАЛЯХ  •  v1.1.1  •  26.10.2026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18520" y="6556248"/>
            <a:ext cx="521207" cy="20116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526584"/>
                </a:solidFill>
                <a:latin typeface="Inter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256032"/>
            <a:ext cx="8229600" cy="31089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0049B3"/>
                </a:solidFill>
                <a:latin typeface="Inter"/>
              </a:rPr>
              <a:t>09 / ПРИВАТНОСТЬ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3504" y="694944"/>
            <a:ext cx="10981944" cy="0"/>
          </a:xfrm>
          <a:prstGeom prst="line">
            <a:avLst/>
          </a:prstGeom>
          <a:ln w="889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2648" y="969264"/>
            <a:ext cx="10881360" cy="99669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300" b="1" i="0">
                <a:solidFill>
                  <a:srgbClr val="06152F"/>
                </a:solidFill>
                <a:latin typeface="Inter"/>
              </a:rPr>
              <a:t>Начать можно без регистрации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" y="1901952"/>
            <a:ext cx="10607040" cy="512064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526584"/>
                </a:solidFill>
                <a:latin typeface="Inter"/>
              </a:rPr>
              <a:t>Локальные предпочтения и понятные разрешения вместо обязательного аккаунта.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33472"/>
            <a:ext cx="3557016" cy="2368296"/>
          </a:xfrm>
          <a:prstGeom prst="roundRect">
            <a:avLst>
              <a:gd name="adj" fmla="val 11000"/>
            </a:avLst>
          </a:prstGeom>
          <a:solidFill>
            <a:srgbClr val="ED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852928"/>
            <a:ext cx="2898648" cy="329184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 i="0">
                <a:solidFill>
                  <a:srgbClr val="0049B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456432"/>
            <a:ext cx="2935224" cy="393192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 i="0">
                <a:solidFill>
                  <a:srgbClr val="06152F"/>
                </a:solidFill>
                <a:latin typeface="Inter"/>
              </a:rPr>
              <a:t>Без аккаунта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4023360"/>
            <a:ext cx="2999232" cy="67665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526584"/>
                </a:solidFill>
                <a:latin typeface="Inter"/>
              </a:rPr>
              <a:t>Нет обязательной регистрации и профиля.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62272" y="2633472"/>
            <a:ext cx="3557016" cy="2368296"/>
          </a:xfrm>
          <a:prstGeom prst="roundRect">
            <a:avLst>
              <a:gd name="adj" fmla="val 11000"/>
            </a:avLst>
          </a:prstGeom>
          <a:solidFill>
            <a:srgbClr val="FC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18304" y="2852928"/>
            <a:ext cx="2898648" cy="329184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 i="0">
                <a:solidFill>
                  <a:srgbClr val="0049B3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18304" y="3456432"/>
            <a:ext cx="2935224" cy="393192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 i="0">
                <a:solidFill>
                  <a:srgbClr val="06152F"/>
                </a:solidFill>
                <a:latin typeface="Inter"/>
              </a:rPr>
              <a:t>Избранное — локально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18304" y="4023360"/>
            <a:ext cx="2999232" cy="67665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526584"/>
                </a:solidFill>
                <a:latin typeface="Inter"/>
              </a:rPr>
              <a:t>Сохраняется на устройстве без синхронизации.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84463" y="2633472"/>
            <a:ext cx="3557016" cy="2368296"/>
          </a:xfrm>
          <a:prstGeom prst="roundRect">
            <a:avLst>
              <a:gd name="adj" fmla="val 11000"/>
            </a:avLst>
          </a:prstGeom>
          <a:solidFill>
            <a:srgbClr val="F3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0495" y="2852928"/>
            <a:ext cx="2898648" cy="329184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 i="0">
                <a:solidFill>
                  <a:srgbClr val="0049B3"/>
                </a:solidFill>
                <a:latin typeface="Inter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0495" y="3456432"/>
            <a:ext cx="2935224" cy="393192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 i="0">
                <a:solidFill>
                  <a:srgbClr val="06152F"/>
                </a:solidFill>
                <a:latin typeface="Inter"/>
              </a:rPr>
              <a:t>Нет фоновой геолокации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0495" y="4023360"/>
            <a:ext cx="2999232" cy="67665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526584"/>
                </a:solidFill>
                <a:latin typeface="Inter"/>
              </a:rPr>
              <a:t>Приложение не ведёт историю перемещений.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294376"/>
            <a:ext cx="10917936" cy="868680"/>
          </a:xfrm>
          <a:prstGeom prst="roundRect">
            <a:avLst>
              <a:gd name="adj" fmla="val 12000"/>
            </a:avLst>
          </a:prstGeom>
          <a:solidFill>
            <a:srgbClr val="011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431536"/>
            <a:ext cx="10451592" cy="49377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60" b="0" i="0">
                <a:solidFill>
                  <a:srgbClr val="F4F7FF"/>
                </a:solidFill>
                <a:latin typeface="Inter"/>
              </a:rPr>
              <a:t>Карта, маршруты, внешний поиск и ИИ используют сетевые сервисы. Для голоса и ИИ предусмотрены отдельные согласия.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3504" y="6510528"/>
            <a:ext cx="10981944" cy="0"/>
          </a:xfrm>
          <a:prstGeom prst="line">
            <a:avLst/>
          </a:prstGeom>
          <a:ln w="6985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30936" y="6565392"/>
            <a:ext cx="9509760" cy="15544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526584"/>
                </a:solidFill>
                <a:latin typeface="Inter"/>
              </a:rPr>
              <a:t>ПЕТЕРБУРГ В ДЕТАЛЯХ  •  v1.1.1  •  26.10.2026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18520" y="6556248"/>
            <a:ext cx="521207" cy="20116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526584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00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256032"/>
            <a:ext cx="8229600" cy="31089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F3C363"/>
                </a:solidFill>
                <a:latin typeface="Inter"/>
              </a:rPr>
              <a:t>10 / ОТКРЫТАЯ ТЕХНИЧЕСКАЯ ОСНОВА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3504" y="694944"/>
            <a:ext cx="10981944" cy="0"/>
          </a:xfrm>
          <a:prstGeom prst="line">
            <a:avLst/>
          </a:prstGeom>
          <a:ln w="8890">
            <a:solidFill>
              <a:srgbClr val="314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941832"/>
            <a:ext cx="11009376" cy="804672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 i="0">
                <a:solidFill>
                  <a:srgbClr val="F4F7FF"/>
                </a:solidFill>
                <a:latin typeface="Inter"/>
              </a:rPr>
              <a:t>Один продукт. Три открытых компонента.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856231"/>
            <a:ext cx="9939528" cy="49377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C3D0E8"/>
                </a:solidFill>
                <a:latin typeface="Inter"/>
              </a:rPr>
              <a:t>Клиент, сервер и официальный сайт разделены — исходный код доступен для изучения.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" y="2715768"/>
            <a:ext cx="3557016" cy="2194560"/>
          </a:xfrm>
          <a:prstGeom prst="roundRect">
            <a:avLst>
              <a:gd name="adj" fmla="val 10000"/>
            </a:avLst>
          </a:prstGeom>
          <a:solidFill>
            <a:srgbClr val="0E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935224"/>
            <a:ext cx="2926080" cy="24688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3C363"/>
                </a:solidFill>
                <a:latin typeface="Inter"/>
              </a:rPr>
              <a:t>ANDROID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383280"/>
            <a:ext cx="2926080" cy="438912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900" b="1" i="0">
                <a:solidFill>
                  <a:srgbClr val="F4F7FF"/>
                </a:solidFill>
                <a:latin typeface="Inter"/>
              </a:rPr>
              <a:t>Flutter · Dart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4050791"/>
            <a:ext cx="3026664" cy="466344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C3D0E8"/>
                </a:solidFill>
                <a:latin typeface="Inter"/>
              </a:rPr>
              <a:t>Интерфейс, маршруты, голос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62272" y="2715768"/>
            <a:ext cx="3557016" cy="2194560"/>
          </a:xfrm>
          <a:prstGeom prst="roundRect">
            <a:avLst>
              <a:gd name="adj" fmla="val 10000"/>
            </a:avLst>
          </a:prstGeom>
          <a:solidFill>
            <a:srgbClr val="104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2935224"/>
            <a:ext cx="2926080" cy="24688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3C363"/>
                </a:solidFill>
                <a:latin typeface="Inter"/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3383280"/>
            <a:ext cx="2926080" cy="438912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900" b="1" i="0">
                <a:solidFill>
                  <a:srgbClr val="F4F7FF"/>
                </a:solidFill>
                <a:latin typeface="Inter"/>
              </a:rPr>
              <a:t>FastAPI · SQLite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4050791"/>
            <a:ext cx="3026664" cy="466344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C3D0E8"/>
                </a:solidFill>
                <a:latin typeface="Inter"/>
              </a:rPr>
              <a:t>Каталог, оценочные модели, 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2715768"/>
            <a:ext cx="3557016" cy="2194560"/>
          </a:xfrm>
          <a:prstGeom prst="roundRect">
            <a:avLst>
              <a:gd name="adj" fmla="val 10000"/>
            </a:avLst>
          </a:prstGeom>
          <a:solidFill>
            <a:srgbClr val="2C4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2935224"/>
            <a:ext cx="2926080" cy="24688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3C363"/>
                </a:solidFill>
                <a:latin typeface="Inter"/>
              </a:rPr>
              <a:t>САЙТ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383280"/>
            <a:ext cx="2926080" cy="438912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900" b="1" i="0">
                <a:solidFill>
                  <a:srgbClr val="F4F7FF"/>
                </a:solidFill>
                <a:latin typeface="Inter"/>
              </a:rPr>
              <a:t>Astro · Vercel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4050791"/>
            <a:ext cx="3026664" cy="466344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C3D0E8"/>
                </a:solidFill>
                <a:latin typeface="Inter"/>
              </a:rPr>
              <a:t>Описание, документы и загрузка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" y="5257800"/>
            <a:ext cx="2907792" cy="365760"/>
          </a:xfrm>
          <a:prstGeom prst="roundRect">
            <a:avLst>
              <a:gd name="adj" fmla="val 27000"/>
            </a:avLst>
          </a:prstGeom>
          <a:solidFill>
            <a:srgbClr val="F3C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5280660"/>
            <a:ext cx="2670048" cy="32004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06152F"/>
                </a:solidFill>
                <a:latin typeface="Inter"/>
              </a:rPr>
              <a:t>MIT · авторский код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39896" y="5257800"/>
            <a:ext cx="2670048" cy="365760"/>
          </a:xfrm>
          <a:prstGeom prst="roundRect">
            <a:avLst>
              <a:gd name="adj" fmla="val 27000"/>
            </a:avLst>
          </a:prstGeom>
          <a:solidFill>
            <a:srgbClr val="004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58768" y="5280660"/>
            <a:ext cx="2432304" cy="32004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F4F7FF"/>
                </a:solidFill>
                <a:latin typeface="Inter"/>
              </a:rPr>
              <a:t>ODbL · данные OSM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74536" y="5257800"/>
            <a:ext cx="4005072" cy="365760"/>
          </a:xfrm>
          <a:prstGeom prst="roundRect">
            <a:avLst>
              <a:gd name="adj" fmla="val 27000"/>
            </a:avLst>
          </a:prstGeom>
          <a:solidFill>
            <a:srgbClr val="004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93408" y="5280660"/>
            <a:ext cx="3767328" cy="32004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F4F7FF"/>
                </a:solidFill>
                <a:latin typeface="Inter"/>
              </a:rPr>
              <a:t>GitHub Actions · CI-проверки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" y="5824728"/>
            <a:ext cx="10488168" cy="32004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10" b="0" i="0">
                <a:solidFill>
                  <a:srgbClr val="C3D0E8"/>
                </a:solidFill>
                <a:latin typeface="Inter"/>
              </a:rPr>
              <a:t>Сторонние SDK, карты и брендовые материалы сохраняют собственные условия использования.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3504" y="6510528"/>
            <a:ext cx="10981944" cy="0"/>
          </a:xfrm>
          <a:prstGeom prst="line">
            <a:avLst/>
          </a:prstGeom>
          <a:ln w="6985">
            <a:solidFill>
              <a:srgbClr val="25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30936" y="6565392"/>
            <a:ext cx="9509760" cy="15544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9FB0CD"/>
                </a:solidFill>
                <a:latin typeface="Inter"/>
              </a:rPr>
              <a:t>ПЕТЕРБУРГ В ДЕТАЛЯХ  •  v1.1.1  •  26.10.2026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18520" y="6556248"/>
            <a:ext cx="521207" cy="20116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9FB0CD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C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256032"/>
            <a:ext cx="8229600" cy="31089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0049B3"/>
                </a:solidFill>
                <a:latin typeface="Inter"/>
              </a:rPr>
              <a:t>11 / ЧЕСТНЫЕ ГРАНИЦЫ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3504" y="694944"/>
            <a:ext cx="10981944" cy="0"/>
          </a:xfrm>
          <a:prstGeom prst="line">
            <a:avLst/>
          </a:prstGeom>
          <a:ln w="889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2648" y="969264"/>
            <a:ext cx="10881360" cy="99669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300" b="1" i="0">
                <a:solidFill>
                  <a:srgbClr val="06152F"/>
                </a:solidFill>
                <a:latin typeface="Inter"/>
              </a:rPr>
              <a:t>Что важно знать до установки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" y="1901952"/>
            <a:ext cx="10607040" cy="512064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526584"/>
                </a:solidFill>
                <a:latin typeface="Inter"/>
              </a:rPr>
              <a:t>Приложение помогает исследовать город, но не подменяет официальную навигационную информацию.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624328"/>
            <a:ext cx="5321808" cy="832104"/>
          </a:xfrm>
          <a:prstGeom prst="roundRect">
            <a:avLst>
              <a:gd name="adj" fmla="val 11000"/>
            </a:avLst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2880360"/>
            <a:ext cx="228600" cy="228600"/>
          </a:xfrm>
          <a:prstGeom prst="ellipse">
            <a:avLst/>
          </a:prstGeom>
          <a:solidFill>
            <a:srgbClr val="F1D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71016" y="2706624"/>
            <a:ext cx="4498848" cy="24688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91671A"/>
                </a:solidFill>
                <a:latin typeface="Inter"/>
              </a:rPr>
              <a:t>ИНТЕРНЕТ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71016" y="2990088"/>
            <a:ext cx="4498848" cy="32004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40" b="0" i="0">
                <a:solidFill>
                  <a:srgbClr val="526584"/>
                </a:solidFill>
                <a:latin typeface="Inter"/>
              </a:rPr>
              <a:t>Для карты, маршрутов и каталога требуется сеть.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1928" y="2624328"/>
            <a:ext cx="5321808" cy="832104"/>
          </a:xfrm>
          <a:prstGeom prst="roundRect">
            <a:avLst>
              <a:gd name="adj" fmla="val 11000"/>
            </a:avLst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3096" y="2880360"/>
            <a:ext cx="228600" cy="228600"/>
          </a:xfrm>
          <a:prstGeom prst="ellipse">
            <a:avLst/>
          </a:prstGeom>
          <a:solidFill>
            <a:srgbClr val="F1D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94576" y="2706624"/>
            <a:ext cx="4498848" cy="24688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91671A"/>
                </a:solidFill>
                <a:latin typeface="Inter"/>
              </a:rPr>
              <a:t>РЕЖИМ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94576" y="2990088"/>
            <a:ext cx="4498848" cy="32004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40" b="0" i="0">
                <a:solidFill>
                  <a:srgbClr val="526584"/>
                </a:solidFill>
                <a:latin typeface="Inter"/>
              </a:rPr>
              <a:t>Только Android 8.0+ и пешеходные маршруты.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675887"/>
            <a:ext cx="5321808" cy="832104"/>
          </a:xfrm>
          <a:prstGeom prst="roundRect">
            <a:avLst>
              <a:gd name="adj" fmla="val 11000"/>
            </a:avLst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59536" y="3931920"/>
            <a:ext cx="228600" cy="228600"/>
          </a:xfrm>
          <a:prstGeom prst="ellipse">
            <a:avLst/>
          </a:prstGeom>
          <a:solidFill>
            <a:srgbClr val="F1D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71016" y="3758183"/>
            <a:ext cx="4498848" cy="24688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91671A"/>
                </a:solidFill>
                <a:latin typeface="Inter"/>
              </a:rPr>
              <a:t>ПЕРЕСТРОЕНИЕ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71016" y="4041648"/>
            <a:ext cx="4498848" cy="32004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40" b="0" i="0">
                <a:solidFill>
                  <a:srgbClr val="526584"/>
                </a:solidFill>
                <a:latin typeface="Inter"/>
              </a:rPr>
              <a:t>При отклонении — только по действию пользователя.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81928" y="3675887"/>
            <a:ext cx="5321808" cy="832104"/>
          </a:xfrm>
          <a:prstGeom prst="roundRect">
            <a:avLst>
              <a:gd name="adj" fmla="val 11000"/>
            </a:avLst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83096" y="3931920"/>
            <a:ext cx="228600" cy="228600"/>
          </a:xfrm>
          <a:prstGeom prst="ellipse">
            <a:avLst/>
          </a:prstGeom>
          <a:solidFill>
            <a:srgbClr val="F1D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94576" y="3758183"/>
            <a:ext cx="4498848" cy="24688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91671A"/>
                </a:solidFill>
                <a:latin typeface="Inter"/>
              </a:rPr>
              <a:t>ОЦЕНКИ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94576" y="4041648"/>
            <a:ext cx="4498848" cy="32004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40" b="0" i="0">
                <a:solidFill>
                  <a:srgbClr val="526584"/>
                </a:solidFill>
                <a:latin typeface="Inter"/>
              </a:rPr>
              <a:t>Тень, тишина, лужи и пыльца — расчётные модели.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727448"/>
            <a:ext cx="5321808" cy="832104"/>
          </a:xfrm>
          <a:prstGeom prst="roundRect">
            <a:avLst>
              <a:gd name="adj" fmla="val 11000"/>
            </a:avLst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9536" y="4983480"/>
            <a:ext cx="228600" cy="228600"/>
          </a:xfrm>
          <a:prstGeom prst="ellipse">
            <a:avLst/>
          </a:prstGeom>
          <a:solidFill>
            <a:srgbClr val="F1D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71016" y="4809744"/>
            <a:ext cx="4498848" cy="24688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91671A"/>
                </a:solidFill>
                <a:latin typeface="Inter"/>
              </a:rPr>
              <a:t>ОБНОВЛЕНИЯ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71016" y="5093208"/>
            <a:ext cx="4498848" cy="32004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40" b="0" i="0">
                <a:solidFill>
                  <a:srgbClr val="526584"/>
                </a:solidFill>
                <a:latin typeface="Inter"/>
              </a:rPr>
              <a:t>APK через GitHub Releases, обновление вручную.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81928" y="4727448"/>
            <a:ext cx="5321808" cy="832104"/>
          </a:xfrm>
          <a:prstGeom prst="roundRect">
            <a:avLst>
              <a:gd name="adj" fmla="val 11000"/>
            </a:avLst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83096" y="4983480"/>
            <a:ext cx="228600" cy="228600"/>
          </a:xfrm>
          <a:prstGeom prst="ellipse">
            <a:avLst/>
          </a:prstGeom>
          <a:solidFill>
            <a:srgbClr val="F1D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94576" y="4809744"/>
            <a:ext cx="4498848" cy="24688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91671A"/>
                </a:solidFill>
                <a:latin typeface="Inter"/>
              </a:rPr>
              <a:t>ПОЛЕВАЯ ПРОВЕРКА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5093208"/>
            <a:ext cx="4498848" cy="32004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40" b="0" i="0">
                <a:solidFill>
                  <a:srgbClr val="526584"/>
                </a:solidFill>
                <a:latin typeface="Inter"/>
              </a:rPr>
              <a:t>CI и сборка не заменяют испытания на устройствах.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3504" y="6510528"/>
            <a:ext cx="10981944" cy="0"/>
          </a:xfrm>
          <a:prstGeom prst="line">
            <a:avLst/>
          </a:prstGeom>
          <a:ln w="6985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30936" y="6565392"/>
            <a:ext cx="9509760" cy="15544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526584"/>
                </a:solidFill>
                <a:latin typeface="Inter"/>
              </a:rPr>
              <a:t>ПЕТЕРБУРГ В ДЕТАЛЯХ  •  v1.1.1  •  26.10.2026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18520" y="6556248"/>
            <a:ext cx="521207" cy="20116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526584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00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16368" y="0"/>
            <a:ext cx="4681728" cy="6858000"/>
          </a:xfrm>
          <a:prstGeom prst="rect">
            <a:avLst/>
          </a:prstGeom>
          <a:solidFill>
            <a:srgbClr val="011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_spb_verified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713232"/>
            <a:ext cx="749808" cy="7498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28216" y="822960"/>
            <a:ext cx="5394960" cy="22860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A8E8FC"/>
                </a:solidFill>
                <a:latin typeface="Inter"/>
              </a:rPr>
              <a:t>ПЕТЕРБУРГ В ДЕТАЛЯХ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09928"/>
            <a:ext cx="6574536" cy="168249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400" b="1" i="0">
                <a:solidFill>
                  <a:srgbClr val="F4F7FF"/>
                </a:solidFill>
                <a:latin typeface="Inter"/>
              </a:rPr>
              <a:t>Следующая прогулка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400" b="1" i="0">
                <a:solidFill>
                  <a:srgbClr val="F4F7FF"/>
                </a:solidFill>
                <a:latin typeface="Inter"/>
              </a:rPr>
              <a:t>начинается здесь.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694176"/>
            <a:ext cx="6153912" cy="77724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 i="0">
                <a:solidFill>
                  <a:srgbClr val="C3D0E8"/>
                </a:solidFill>
                <a:latin typeface="Inter"/>
              </a:rPr>
              <a:t>Знакомьтесь с Санкт-Петербургом на своих условиях — замечайте больше по дороге.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" y="4791456"/>
            <a:ext cx="2002536" cy="365760"/>
          </a:xfrm>
          <a:prstGeom prst="roundRect">
            <a:avLst>
              <a:gd name="adj" fmla="val 27000"/>
            </a:avLst>
          </a:prstGeom>
          <a:solidFill>
            <a:srgbClr val="004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4814316"/>
            <a:ext cx="1764792" cy="32004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4F7FF"/>
                </a:solidFill>
                <a:latin typeface="Inter"/>
              </a:rPr>
              <a:t>Android 8.0+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16936" y="4791456"/>
            <a:ext cx="2020824" cy="365760"/>
          </a:xfrm>
          <a:prstGeom prst="roundRect">
            <a:avLst>
              <a:gd name="adj" fmla="val 27000"/>
            </a:avLst>
          </a:prstGeom>
          <a:solidFill>
            <a:srgbClr val="F3C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35808" y="4814316"/>
            <a:ext cx="1783080" cy="32004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06152F"/>
                </a:solidFill>
                <a:latin typeface="Inter"/>
              </a:rPr>
              <a:t>Версия 1.1.1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5632704"/>
            <a:ext cx="6300216" cy="38404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0" i="0">
                <a:solidFill>
                  <a:srgbClr val="A8E8FC"/>
                </a:solidFill>
                <a:latin typeface="Inter"/>
                <a:hlinkClick r:id="rId3"/>
              </a:rPr>
              <a:t>spb-in-details.vercel.app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252728"/>
            <a:ext cx="3044952" cy="3063240"/>
          </a:xfrm>
          <a:prstGeom prst="roundRect">
            <a:avLst>
              <a:gd name="adj" fmla="val 8000"/>
            </a:avLst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_deck_qr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1389888"/>
            <a:ext cx="2752344" cy="27523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02752" y="4562856"/>
            <a:ext cx="3127248" cy="42976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 i="0">
                <a:solidFill>
                  <a:srgbClr val="F3C363"/>
                </a:solidFill>
                <a:latin typeface="Inter"/>
              </a:rPr>
              <a:t>СКАЧАТЬ APK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9288" y="5102352"/>
            <a:ext cx="3767328" cy="576072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40" b="0" i="0">
                <a:solidFill>
                  <a:srgbClr val="C3D0E8"/>
                </a:solidFill>
                <a:latin typeface="Inter"/>
              </a:rPr>
              <a:t>QR ведёт на официальный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40" b="0" i="0">
                <a:solidFill>
                  <a:srgbClr val="C3D0E8"/>
                </a:solidFill>
                <a:latin typeface="Inter"/>
              </a:rPr>
              <a:t>GitHub Release v1.1.1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28431" y="5888736"/>
            <a:ext cx="3776472" cy="210312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A8E8FC"/>
                </a:solidFill>
                <a:latin typeface="Inter"/>
                <a:hlinkClick r:id="rId5"/>
              </a:rPr>
              <a:t>Официальный релиз · GitHub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3504" y="6510528"/>
            <a:ext cx="10981944" cy="0"/>
          </a:xfrm>
          <a:prstGeom prst="line">
            <a:avLst/>
          </a:prstGeom>
          <a:ln w="6985">
            <a:solidFill>
              <a:srgbClr val="25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30936" y="6565392"/>
            <a:ext cx="9509760" cy="15544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9FB0CD"/>
                </a:solidFill>
                <a:latin typeface="Inter"/>
              </a:rPr>
              <a:t>ПЕТЕРБУРГ В ДЕТАЛЯХ  •  v1.1.1  •  26.10.2026  •  © 2026 Денис Аниськов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556248"/>
            <a:ext cx="521207" cy="20116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9FB0CD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256032"/>
            <a:ext cx="8229600" cy="31089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0049B3"/>
                </a:solidFill>
                <a:latin typeface="Inter"/>
              </a:rPr>
              <a:t>ПРИЛОЖЕНИЕ / ИСТОЧНИКИ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3504" y="694944"/>
            <a:ext cx="10981944" cy="0"/>
          </a:xfrm>
          <a:prstGeom prst="line">
            <a:avLst/>
          </a:prstGeom>
          <a:ln w="889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2648" y="969264"/>
            <a:ext cx="10881360" cy="99669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300" b="1" i="0">
                <a:solidFill>
                  <a:srgbClr val="06152F"/>
                </a:solidFill>
                <a:latin typeface="Inter"/>
              </a:rPr>
              <a:t>На чём основана презентация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" y="1901952"/>
            <a:ext cx="10607040" cy="512064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526584"/>
                </a:solidFill>
                <a:latin typeface="Inter"/>
              </a:rPr>
              <a:t>Продуктовые характеристики проверены по документации опубликованного исходного кода.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2660904"/>
            <a:ext cx="128016" cy="128016"/>
          </a:xfrm>
          <a:prstGeom prst="ellipse">
            <a:avLst/>
          </a:prstGeom>
          <a:solidFill>
            <a:srgbClr val="004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569464"/>
            <a:ext cx="6693408" cy="32004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06152F"/>
                </a:solidFill>
                <a:latin typeface="Inter"/>
              </a:rPr>
              <a:t>Android • README / Architecture /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587752"/>
            <a:ext cx="3767328" cy="22860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80" b="0" i="0">
                <a:solidFill>
                  <a:srgbClr val="0049B3"/>
                </a:solidFill>
                <a:latin typeface="Inter"/>
                <a:hlinkClick r:id="rId2"/>
              </a:rPr>
              <a:t>github.com/DenisAniskov/SPb_in_Details_public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3264408"/>
            <a:ext cx="128016" cy="128016"/>
          </a:xfrm>
          <a:prstGeom prst="ellipse">
            <a:avLst/>
          </a:prstGeom>
          <a:solidFill>
            <a:srgbClr val="004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3172968"/>
            <a:ext cx="6693408" cy="32004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06152F"/>
                </a:solidFill>
                <a:latin typeface="Inter"/>
              </a:rPr>
              <a:t>Backend • README / API / Security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3191256"/>
            <a:ext cx="3767328" cy="22860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80" b="0" i="0">
                <a:solidFill>
                  <a:srgbClr val="0049B3"/>
                </a:solidFill>
                <a:latin typeface="Inter"/>
                <a:hlinkClick r:id="rId3"/>
              </a:rPr>
              <a:t>github.com/DenisAniskov/SPb_in_Details_Backend_public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" y="3867911"/>
            <a:ext cx="128016" cy="128016"/>
          </a:xfrm>
          <a:prstGeom prst="ellipse">
            <a:avLst/>
          </a:prstGeom>
          <a:solidFill>
            <a:srgbClr val="004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776472"/>
            <a:ext cx="6693408" cy="32004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06152F"/>
                </a:solidFill>
                <a:latin typeface="Inter"/>
              </a:rPr>
              <a:t>Официальный релиз • APK v1.1.1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3794759"/>
            <a:ext cx="3767328" cy="22860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80" b="0" i="0">
                <a:solidFill>
                  <a:srgbClr val="0049B3"/>
                </a:solidFill>
                <a:latin typeface="Inter"/>
                <a:hlinkClick r:id="rId4"/>
              </a:rPr>
              <a:t>github.com/DenisAniskov/SPb_in_Details_public/releases/tag/v1.1.1</a:t>
            </a:r>
          </a:p>
        </p:txBody>
      </p:sp>
      <p:sp>
        <p:nvSpPr>
          <p:cNvPr id="16" name="Oval 15"/>
          <p:cNvSpPr/>
          <p:nvPr/>
        </p:nvSpPr>
        <p:spPr>
          <a:xfrm>
            <a:off x="713232" y="4471416"/>
            <a:ext cx="128016" cy="128016"/>
          </a:xfrm>
          <a:prstGeom prst="ellipse">
            <a:avLst/>
          </a:prstGeom>
          <a:solidFill>
            <a:srgbClr val="004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4379976"/>
            <a:ext cx="6693408" cy="32004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06152F"/>
                </a:solidFill>
                <a:latin typeface="Inter"/>
              </a:rPr>
              <a:t>Официальный сайт • описание и метаданные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4398264"/>
            <a:ext cx="3767328" cy="22860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80" b="0" i="0">
                <a:solidFill>
                  <a:srgbClr val="0049B3"/>
                </a:solidFill>
                <a:latin typeface="Inter"/>
                <a:hlinkClick r:id="rId5"/>
              </a:rPr>
              <a:t>spb-in-details.vercel.app</a:t>
            </a:r>
          </a:p>
        </p:txBody>
      </p:sp>
      <p:sp>
        <p:nvSpPr>
          <p:cNvPr id="19" name="Oval 18"/>
          <p:cNvSpPr/>
          <p:nvPr/>
        </p:nvSpPr>
        <p:spPr>
          <a:xfrm>
            <a:off x="713232" y="5074920"/>
            <a:ext cx="128016" cy="128016"/>
          </a:xfrm>
          <a:prstGeom prst="ellipse">
            <a:avLst/>
          </a:prstGeom>
          <a:solidFill>
            <a:srgbClr val="004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983480"/>
            <a:ext cx="6693408" cy="32004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06152F"/>
                </a:solidFill>
                <a:latin typeface="Inter"/>
              </a:rPr>
              <a:t>Сторонние данные • OpenStreetMap / ODbL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5001768"/>
            <a:ext cx="3767328" cy="22860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80" b="0" i="0">
                <a:solidFill>
                  <a:srgbClr val="0049B3"/>
                </a:solidFill>
                <a:latin typeface="Inter"/>
                <a:hlinkClick r:id="rId6"/>
              </a:rPr>
              <a:t>www.openstreetmap.org/copyright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733288"/>
            <a:ext cx="10881360" cy="438912"/>
          </a:xfrm>
          <a:prstGeom prst="roundRect">
            <a:avLst>
              <a:gd name="adj" fmla="val 10000"/>
            </a:avLst>
          </a:prstGeom>
          <a:solidFill>
            <a:srgbClr val="FC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" y="5788152"/>
            <a:ext cx="10424160" cy="24688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80" b="0" i="0">
                <a:solidFill>
                  <a:srgbClr val="526584"/>
                </a:solidFill>
                <a:latin typeface="Inter"/>
              </a:rPr>
              <a:t>Все схемы в презентации — оригинальные иллюстрации, а не скриншоты приложения или карты сторонних сервисов.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3504" y="6510528"/>
            <a:ext cx="10981944" cy="0"/>
          </a:xfrm>
          <a:prstGeom prst="line">
            <a:avLst/>
          </a:prstGeom>
          <a:ln w="6985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30936" y="6565392"/>
            <a:ext cx="9509760" cy="15544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526584"/>
                </a:solidFill>
                <a:latin typeface="Inter"/>
              </a:rPr>
              <a:t>ПЕТЕРБУРГ В ДЕТАЛЯХ  •  v1.1.1  •  26.10.2026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18520" y="6556248"/>
            <a:ext cx="521207" cy="20116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526584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Петербург в деталях — презентация Android-приложения</dc:title>
  <dc:subject>Маркетинговая презентация v1.0 (публичный релиз Android v1.1.1)</dc:subject>
  <dc:creator>Денис Аниськов</dc:creator>
  <cp:keywords>Петербург в деталях, Android, Yandex MapKit, Smart Walk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