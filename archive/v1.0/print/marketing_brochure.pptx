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0692000" cy="7559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github.com/DenisAniskov/SPb_in_Details_public/releases/tag/v1.1.1" TargetMode="External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564002" cy="7560003"/>
          </a:xfrm>
          <a:prstGeom prst="rect">
            <a:avLst/>
          </a:prstGeom>
          <a:solidFill>
            <a:srgbClr val="011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4002" y="0"/>
            <a:ext cx="3564002" cy="7560003"/>
          </a:xfrm>
          <a:prstGeom prst="rect">
            <a:avLst/>
          </a:prstGeom>
          <a:solidFill>
            <a:srgbClr val="00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128004" y="0"/>
            <a:ext cx="3564002" cy="7560003"/>
          </a:xfrm>
          <a:prstGeom prst="rect">
            <a:avLst/>
          </a:prstGeom>
          <a:solidFill>
            <a:srgbClr val="011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-960120"/>
            <a:ext cx="3291840" cy="3291840"/>
          </a:xfrm>
          <a:prstGeom prst="ellipse">
            <a:avLst/>
          </a:prstGeom>
          <a:noFill/>
          <a:ln w="12700">
            <a:solidFill>
              <a:srgbClr val="026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420624" y="-713232"/>
            <a:ext cx="2651760" cy="2651760"/>
          </a:xfrm>
          <a:prstGeom prst="ellipse">
            <a:avLst/>
          </a:prstGeom>
          <a:noFill/>
          <a:ln w="12700">
            <a:solidFill>
              <a:srgbClr val="004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" y="393192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F3C363"/>
                </a:solidFill>
                <a:latin typeface="DejaVu Sans"/>
              </a:rPr>
              <a:t>ДЛЯ ЛЮБОПЫТНЫХ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" y="841248"/>
            <a:ext cx="2907792" cy="1252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F4F7FF"/>
                </a:solidFill>
                <a:latin typeface="DejaVu Sans"/>
              </a:rPr>
              <a:t>Откройте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F4F7FF"/>
                </a:solidFill>
                <a:latin typeface="DejaVu Sans"/>
              </a:rPr>
              <a:t>город в своём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F4F7FF"/>
                </a:solidFill>
                <a:latin typeface="DejaVu Sans"/>
              </a:rPr>
              <a:t>ритме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2423160"/>
            <a:ext cx="2843784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15" b="0" i="0">
                <a:solidFill>
                  <a:srgbClr val="C3D0E8"/>
                </a:solidFill>
                <a:latin typeface="DejaVu Sans"/>
              </a:rPr>
              <a:t>Не расписание экскурсий, а собственная прогулка по местам, которые хочется заметить.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8328" y="3483864"/>
            <a:ext cx="2788920" cy="0"/>
          </a:xfrm>
          <a:prstGeom prst="line">
            <a:avLst/>
          </a:prstGeom>
          <a:ln w="8890">
            <a:solidFill>
              <a:srgbClr val="3761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65760" y="3749039"/>
            <a:ext cx="292608" cy="292608"/>
          </a:xfrm>
          <a:prstGeom prst="ellipse">
            <a:avLst/>
          </a:prstGeom>
          <a:solidFill>
            <a:srgbClr val="F3C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762755"/>
            <a:ext cx="29260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1000"/>
              </a:lnSpc>
              <a:spcAft>
                <a:spcPts val="0"/>
              </a:spcAft>
            </a:pPr>
            <a:r>
              <a:rPr sz="900" b="1" i="0">
                <a:solidFill>
                  <a:srgbClr val="06152F"/>
                </a:solidFill>
                <a:latin typeface="DejaVu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12463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1000"/>
              </a:lnSpc>
              <a:spcAft>
                <a:spcPts val="0"/>
              </a:spcAft>
            </a:pPr>
            <a:r>
              <a:rPr sz="1000" b="1" i="0">
                <a:solidFill>
                  <a:srgbClr val="F4F7FF"/>
                </a:solidFill>
                <a:latin typeface="DejaVu Sans"/>
              </a:rPr>
              <a:t>Найдите место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023359"/>
            <a:ext cx="21488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1000"/>
              </a:lnSpc>
              <a:spcAft>
                <a:spcPts val="0"/>
              </a:spcAft>
            </a:pPr>
            <a:r>
              <a:rPr sz="815" b="0" i="0">
                <a:solidFill>
                  <a:srgbClr val="C3D0E8"/>
                </a:solidFill>
                <a:latin typeface="DejaVu Sans"/>
              </a:rPr>
              <a:t>Выберите объект из каталога.</a:t>
            </a:r>
          </a:p>
        </p:txBody>
      </p:sp>
      <p:sp>
        <p:nvSpPr>
          <p:cNvPr id="15" name="Oval 14"/>
          <p:cNvSpPr/>
          <p:nvPr/>
        </p:nvSpPr>
        <p:spPr>
          <a:xfrm>
            <a:off x="365760" y="4626864"/>
            <a:ext cx="292608" cy="292608"/>
          </a:xfrm>
          <a:prstGeom prst="ellipse">
            <a:avLst/>
          </a:prstGeom>
          <a:solidFill>
            <a:srgbClr val="F3C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640579"/>
            <a:ext cx="29260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1000"/>
              </a:lnSpc>
              <a:spcAft>
                <a:spcPts val="0"/>
              </a:spcAft>
            </a:pPr>
            <a:r>
              <a:rPr sz="900" b="1" i="0">
                <a:solidFill>
                  <a:srgbClr val="06152F"/>
                </a:solidFill>
                <a:latin typeface="DejaVu San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9028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1000"/>
              </a:lnSpc>
              <a:spcAft>
                <a:spcPts val="0"/>
              </a:spcAft>
            </a:pPr>
            <a:r>
              <a:rPr sz="1000" b="1" i="0">
                <a:solidFill>
                  <a:srgbClr val="F4F7FF"/>
                </a:solidFill>
                <a:latin typeface="DejaVu Sans"/>
              </a:rPr>
              <a:t>Составьте прогулку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901183"/>
            <a:ext cx="21488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1000"/>
              </a:lnSpc>
              <a:spcAft>
                <a:spcPts val="0"/>
              </a:spcAft>
            </a:pPr>
            <a:r>
              <a:rPr sz="815" b="0" i="0">
                <a:solidFill>
                  <a:srgbClr val="C3D0E8"/>
                </a:solidFill>
                <a:latin typeface="DejaVu Sans"/>
              </a:rPr>
              <a:t>Отметьте интересы и время.</a:t>
            </a:r>
          </a:p>
        </p:txBody>
      </p:sp>
      <p:sp>
        <p:nvSpPr>
          <p:cNvPr id="19" name="Oval 18"/>
          <p:cNvSpPr/>
          <p:nvPr/>
        </p:nvSpPr>
        <p:spPr>
          <a:xfrm>
            <a:off x="365760" y="5504688"/>
            <a:ext cx="292608" cy="292608"/>
          </a:xfrm>
          <a:prstGeom prst="ellipse">
            <a:avLst/>
          </a:prstGeom>
          <a:solidFill>
            <a:srgbClr val="F3C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5518403"/>
            <a:ext cx="29260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1000"/>
              </a:lnSpc>
              <a:spcAft>
                <a:spcPts val="0"/>
              </a:spcAft>
            </a:pPr>
            <a:r>
              <a:rPr sz="900" b="1" i="0">
                <a:solidFill>
                  <a:srgbClr val="06152F"/>
                </a:solidFill>
                <a:latin typeface="DejaVu San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46811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1000"/>
              </a:lnSpc>
              <a:spcAft>
                <a:spcPts val="0"/>
              </a:spcAft>
            </a:pPr>
            <a:r>
              <a:rPr sz="1000" b="1" i="0">
                <a:solidFill>
                  <a:srgbClr val="F4F7FF"/>
                </a:solidFill>
                <a:latin typeface="DejaVu Sans"/>
              </a:rPr>
              <a:t>Отправляйтесь в путь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779007"/>
            <a:ext cx="21488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1000"/>
              </a:lnSpc>
              <a:spcAft>
                <a:spcPts val="0"/>
              </a:spcAft>
            </a:pPr>
            <a:r>
              <a:rPr sz="815" b="0" i="0">
                <a:solidFill>
                  <a:srgbClr val="C3D0E8"/>
                </a:solidFill>
                <a:latin typeface="DejaVu Sans"/>
              </a:rPr>
              <a:t>Следуйте пешеходному маршруту.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976872"/>
            <a:ext cx="2788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1000"/>
              </a:lnSpc>
              <a:spcAft>
                <a:spcPts val="0"/>
              </a:spcAft>
            </a:pPr>
            <a:r>
              <a:rPr sz="800" b="1" i="0">
                <a:solidFill>
                  <a:srgbClr val="A8E8FC"/>
                </a:solidFill>
                <a:latin typeface="DejaVu Sans"/>
              </a:rPr>
              <a:t>САНКТ-ПЕТЕРБУРГ · АНДРОИД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393192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F3C363"/>
                </a:solidFill>
                <a:latin typeface="DejaVu Sans"/>
              </a:rPr>
              <a:t>НАЧНИТЕ ПРОГУЛКУ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6200" y="786384"/>
            <a:ext cx="2779776" cy="9235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920" b="1" i="0">
                <a:solidFill>
                  <a:srgbClr val="F4F7FF"/>
                </a:solidFill>
                <a:latin typeface="DejaVu Sans"/>
              </a:rPr>
              <a:t>Город ждёт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920" b="1" i="0">
                <a:solidFill>
                  <a:srgbClr val="F4F7FF"/>
                </a:solidFill>
                <a:latin typeface="DejaVu Sans"/>
              </a:rPr>
              <a:t>вашего взгляда.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6200" y="1837943"/>
            <a:ext cx="2688336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30" b="0" i="0">
                <a:solidFill>
                  <a:srgbClr val="C3D0E8"/>
                </a:solidFill>
                <a:latin typeface="DejaVu Sans"/>
              </a:rPr>
              <a:t>Сканируйте код и откройте официальный релиз приложения.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61688" y="2752344"/>
            <a:ext cx="1865376" cy="1901952"/>
          </a:xfrm>
          <a:prstGeom prst="roundRect">
            <a:avLst>
              <a:gd name="adj" fmla="val 11000"/>
            </a:avLst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_spb_brochure_qr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704" y="2889504"/>
            <a:ext cx="1609344" cy="160934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849624" y="4855464"/>
            <a:ext cx="2999232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1000"/>
              </a:lnSpc>
              <a:spcAft>
                <a:spcPts val="0"/>
              </a:spcAft>
            </a:pPr>
            <a:r>
              <a:rPr sz="1240" b="1" i="0">
                <a:solidFill>
                  <a:srgbClr val="F3C363"/>
                </a:solidFill>
                <a:latin typeface="DejaVu Sans"/>
              </a:rPr>
              <a:t>СКАЧАТЬ ДЛЯ ANDROID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67912" y="5394960"/>
            <a:ext cx="294436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1000"/>
              </a:lnSpc>
              <a:spcAft>
                <a:spcPts val="0"/>
              </a:spcAft>
            </a:pPr>
            <a:r>
              <a:rPr sz="1000" b="1" i="0">
                <a:solidFill>
                  <a:srgbClr val="F4F7FF"/>
                </a:solidFill>
                <a:latin typeface="DejaVu Sans"/>
              </a:rPr>
              <a:t>Android 8.0+  ·  v1.1.1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950208" y="5980176"/>
            <a:ext cx="2734056" cy="0"/>
          </a:xfrm>
          <a:prstGeom prst="line">
            <a:avLst/>
          </a:prstGeom>
          <a:ln w="8890">
            <a:solidFill>
              <a:srgbClr val="3752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867912" y="6126480"/>
            <a:ext cx="290779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1000"/>
              </a:lnSpc>
              <a:spcAft>
                <a:spcPts val="0"/>
              </a:spcAft>
            </a:pPr>
            <a:r>
              <a:rPr sz="840" b="0" i="0">
                <a:solidFill>
                  <a:srgbClr val="A8E8FC"/>
                </a:solidFill>
                <a:latin typeface="DejaVu Sans"/>
              </a:rPr>
              <a:t>spb-in-details.vercel.app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31336" y="6528816"/>
            <a:ext cx="298094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1000"/>
              </a:lnSpc>
              <a:spcAft>
                <a:spcPts val="0"/>
              </a:spcAft>
            </a:pPr>
            <a:r>
              <a:rPr sz="765" b="0" i="0">
                <a:solidFill>
                  <a:srgbClr val="C3D0E8"/>
                </a:solidFill>
                <a:latin typeface="DejaVu Sans"/>
              </a:rPr>
              <a:t>APK — GitHub Releases.</a:t>
            </a:r>
          </a:p>
          <a:p>
            <a:pPr algn="ctr">
              <a:lnSpc>
                <a:spcPct val="111000"/>
              </a:lnSpc>
              <a:spcAft>
                <a:spcPts val="0"/>
              </a:spcAft>
            </a:pPr>
            <a:r>
              <a:rPr sz="765" b="0" i="0">
                <a:solidFill>
                  <a:srgbClr val="C3D0E8"/>
                </a:solidFill>
                <a:latin typeface="DejaVu Sans"/>
              </a:rPr>
              <a:t>Регистрация не требуется.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0" y="7068312"/>
            <a:ext cx="294436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1000"/>
              </a:lnSpc>
              <a:spcAft>
                <a:spcPts val="0"/>
              </a:spcAft>
            </a:pPr>
            <a:r>
              <a:rPr sz="660" b="0" i="0">
                <a:solidFill>
                  <a:srgbClr val="9FB0CD"/>
                </a:solidFill>
                <a:latin typeface="DejaVu Sans"/>
              </a:rPr>
              <a:t>Независимый проект Дениса Аниськова</a:t>
            </a:r>
          </a:p>
        </p:txBody>
      </p:sp>
      <p:sp>
        <p:nvSpPr>
          <p:cNvPr id="35" name="Oval 34"/>
          <p:cNvSpPr/>
          <p:nvPr/>
        </p:nvSpPr>
        <p:spPr>
          <a:xfrm>
            <a:off x="9372600" y="-1152144"/>
            <a:ext cx="2834640" cy="2834640"/>
          </a:xfrm>
          <a:prstGeom prst="ellipse">
            <a:avLst/>
          </a:prstGeom>
          <a:noFill/>
          <a:ln w="12700">
            <a:solidFill>
              <a:srgbClr val="026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070848" y="-859536"/>
            <a:ext cx="2606040" cy="2606040"/>
          </a:xfrm>
          <a:prstGeom prst="ellipse">
            <a:avLst/>
          </a:prstGeom>
          <a:noFill/>
          <a:ln w="12700">
            <a:solidFill>
              <a:srgbClr val="004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498079" y="402336"/>
            <a:ext cx="521207" cy="521207"/>
          </a:xfrm>
          <a:prstGeom prst="roundRect">
            <a:avLst>
              <a:gd name="adj" fmla="val 11000"/>
            </a:avLst>
          </a:prstGeom>
          <a:solidFill>
            <a:srgbClr val="004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_spb_verified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7516" y="463600"/>
            <a:ext cx="402336" cy="402336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138160" y="438912"/>
            <a:ext cx="222199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40" b="1" i="0">
                <a:solidFill>
                  <a:srgbClr val="A8E8FC"/>
                </a:solidFill>
                <a:latin typeface="DejaVu Sans"/>
              </a:rPr>
              <a:t>ПРОГУЛКИ ПО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40" b="1" i="0">
                <a:solidFill>
                  <a:srgbClr val="A8E8FC"/>
                </a:solidFill>
                <a:latin typeface="DejaVu Sans"/>
              </a:rPr>
              <a:t>САНКТ-ПЕТЕРБУРГУ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70648" y="1444752"/>
            <a:ext cx="3035808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700" b="1" i="0">
                <a:solidFill>
                  <a:srgbClr val="F4F7FF"/>
                </a:solidFill>
                <a:latin typeface="DejaVu Sans"/>
              </a:rPr>
              <a:t>Петербург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700" b="1" i="0">
                <a:solidFill>
                  <a:srgbClr val="F4F7FF"/>
                </a:solidFill>
                <a:latin typeface="DejaVu Sans"/>
              </a:rPr>
              <a:t>в деталях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479792" y="3054096"/>
            <a:ext cx="594360" cy="0"/>
          </a:xfrm>
          <a:prstGeom prst="line">
            <a:avLst/>
          </a:prstGeom>
          <a:ln w="50800">
            <a:solidFill>
              <a:srgbClr val="F3C3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470648" y="3282696"/>
            <a:ext cx="29260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390" b="1" i="0">
                <a:solidFill>
                  <a:srgbClr val="FEE095"/>
                </a:solidFill>
                <a:latin typeface="DejaVu Sans"/>
              </a:rPr>
              <a:t>Замечай больше.</a:t>
            </a:r>
          </a:p>
          <a:p>
            <a:pPr algn="l">
              <a:lnSpc>
                <a:spcPct val="117000"/>
              </a:lnSpc>
              <a:spcAft>
                <a:spcPts val="0"/>
              </a:spcAft>
            </a:pPr>
            <a:r>
              <a:rPr sz="1390" b="1" i="0">
                <a:solidFill>
                  <a:srgbClr val="FEE095"/>
                </a:solidFill>
                <a:latin typeface="DejaVu Sans"/>
              </a:rPr>
              <a:t>Открывай Петербург.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70648" y="4288536"/>
            <a:ext cx="294436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019" b="0" i="0">
                <a:solidFill>
                  <a:srgbClr val="F4F7FF"/>
                </a:solidFill>
                <a:latin typeface="DejaVu Sans"/>
              </a:rPr>
              <a:t>Не просто дойти до места —</a:t>
            </a:r>
          </a:p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1019" b="0" i="0">
                <a:solidFill>
                  <a:srgbClr val="F4F7FF"/>
                </a:solidFill>
                <a:latin typeface="DejaVu Sans"/>
              </a:rPr>
              <a:t>заметить город по дороге.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324344" y="6535765"/>
            <a:ext cx="3319272" cy="0"/>
          </a:xfrm>
          <a:prstGeom prst="line">
            <a:avLst/>
          </a:prstGeom>
          <a:ln w="12700">
            <a:solidFill>
              <a:srgbClr val="55B1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7423922" y="6270223"/>
            <a:ext cx="630661" cy="265541"/>
          </a:xfrm>
          <a:prstGeom prst="rect">
            <a:avLst/>
          </a:prstGeom>
          <a:solidFill>
            <a:srgbClr val="F3C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7581587" y="6328642"/>
            <a:ext cx="0" cy="175258"/>
          </a:xfrm>
          <a:prstGeom prst="line">
            <a:avLst/>
          </a:prstGeom>
          <a:ln w="6350">
            <a:solidFill>
              <a:srgbClr val="011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739252" y="6328642"/>
            <a:ext cx="0" cy="175258"/>
          </a:xfrm>
          <a:prstGeom prst="line">
            <a:avLst/>
          </a:prstGeom>
          <a:ln w="6350">
            <a:solidFill>
              <a:srgbClr val="011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896918" y="6328642"/>
            <a:ext cx="0" cy="175258"/>
          </a:xfrm>
          <a:prstGeom prst="line">
            <a:avLst/>
          </a:prstGeom>
          <a:ln w="6350">
            <a:solidFill>
              <a:srgbClr val="011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7855427" y="6203838"/>
            <a:ext cx="796625" cy="331927"/>
          </a:xfrm>
          <a:prstGeom prst="rect">
            <a:avLst/>
          </a:prstGeom>
          <a:solidFill>
            <a:srgbClr val="F3C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8054583" y="6276862"/>
            <a:ext cx="0" cy="219072"/>
          </a:xfrm>
          <a:prstGeom prst="line">
            <a:avLst/>
          </a:prstGeom>
          <a:ln w="6350">
            <a:solidFill>
              <a:srgbClr val="011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253740" y="6276862"/>
            <a:ext cx="0" cy="219072"/>
          </a:xfrm>
          <a:prstGeom prst="line">
            <a:avLst/>
          </a:prstGeom>
          <a:ln w="6350">
            <a:solidFill>
              <a:srgbClr val="011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8452896" y="6276862"/>
            <a:ext cx="0" cy="219072"/>
          </a:xfrm>
          <a:prstGeom prst="line">
            <a:avLst/>
          </a:prstGeom>
          <a:ln w="6350">
            <a:solidFill>
              <a:srgbClr val="011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8519281" y="6159581"/>
            <a:ext cx="497890" cy="376184"/>
          </a:xfrm>
          <a:prstGeom prst="rect">
            <a:avLst/>
          </a:prstGeom>
          <a:solidFill>
            <a:srgbClr val="F3C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8643754" y="6242341"/>
            <a:ext cx="0" cy="248282"/>
          </a:xfrm>
          <a:prstGeom prst="line">
            <a:avLst/>
          </a:prstGeom>
          <a:ln w="6350">
            <a:solidFill>
              <a:srgbClr val="011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8768227" y="6242341"/>
            <a:ext cx="0" cy="248282"/>
          </a:xfrm>
          <a:prstGeom prst="line">
            <a:avLst/>
          </a:prstGeom>
          <a:ln w="6350">
            <a:solidFill>
              <a:srgbClr val="011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8892700" y="6242341"/>
            <a:ext cx="0" cy="248282"/>
          </a:xfrm>
          <a:prstGeom prst="line">
            <a:avLst/>
          </a:prstGeom>
          <a:ln w="6350">
            <a:solidFill>
              <a:srgbClr val="011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9349099" y="6048938"/>
            <a:ext cx="564276" cy="486826"/>
          </a:xfrm>
          <a:prstGeom prst="rect">
            <a:avLst/>
          </a:prstGeom>
          <a:solidFill>
            <a:srgbClr val="F3C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9490168" y="6156040"/>
            <a:ext cx="0" cy="321306"/>
          </a:xfrm>
          <a:prstGeom prst="line">
            <a:avLst/>
          </a:prstGeom>
          <a:ln w="6350">
            <a:solidFill>
              <a:srgbClr val="011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631238" y="6156040"/>
            <a:ext cx="0" cy="321306"/>
          </a:xfrm>
          <a:prstGeom prst="line">
            <a:avLst/>
          </a:prstGeom>
          <a:ln w="6350">
            <a:solidFill>
              <a:srgbClr val="011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772307" y="6156040"/>
            <a:ext cx="0" cy="321306"/>
          </a:xfrm>
          <a:prstGeom prst="line">
            <a:avLst/>
          </a:prstGeom>
          <a:ln w="6350">
            <a:solidFill>
              <a:srgbClr val="011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10079339" y="6181709"/>
            <a:ext cx="464698" cy="354055"/>
          </a:xfrm>
          <a:prstGeom prst="rect">
            <a:avLst/>
          </a:prstGeom>
          <a:solidFill>
            <a:srgbClr val="F3C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>
            <a:off x="10195514" y="6259602"/>
            <a:ext cx="0" cy="233676"/>
          </a:xfrm>
          <a:prstGeom prst="line">
            <a:avLst/>
          </a:prstGeom>
          <a:ln w="6350">
            <a:solidFill>
              <a:srgbClr val="011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0311688" y="6259602"/>
            <a:ext cx="0" cy="233676"/>
          </a:xfrm>
          <a:prstGeom prst="line">
            <a:avLst/>
          </a:prstGeom>
          <a:ln w="6350">
            <a:solidFill>
              <a:srgbClr val="011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0427863" y="6259602"/>
            <a:ext cx="0" cy="233676"/>
          </a:xfrm>
          <a:prstGeom prst="line">
            <a:avLst/>
          </a:prstGeom>
          <a:ln w="6350">
            <a:solidFill>
              <a:srgbClr val="011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8950787" y="5761268"/>
            <a:ext cx="199156" cy="774496"/>
          </a:xfrm>
          <a:prstGeom prst="rect">
            <a:avLst/>
          </a:prstGeom>
          <a:solidFill>
            <a:srgbClr val="F3C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 flipV="1">
            <a:off x="9050365" y="4942514"/>
            <a:ext cx="0" cy="796626"/>
          </a:xfrm>
          <a:prstGeom prst="line">
            <a:avLst/>
          </a:prstGeom>
          <a:ln w="17780">
            <a:solidFill>
              <a:srgbClr val="F3C3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8990618" y="4898257"/>
            <a:ext cx="119493" cy="119493"/>
          </a:xfrm>
          <a:prstGeom prst="ellipse">
            <a:avLst/>
          </a:prstGeom>
          <a:solidFill>
            <a:srgbClr val="F3C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988198" y="5739140"/>
            <a:ext cx="398312" cy="265541"/>
          </a:xfrm>
          <a:prstGeom prst="ellipse">
            <a:avLst/>
          </a:prstGeom>
          <a:solidFill>
            <a:srgbClr val="F3C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964963" y="5894039"/>
            <a:ext cx="444782" cy="641725"/>
          </a:xfrm>
          <a:prstGeom prst="rect">
            <a:avLst/>
          </a:prstGeom>
          <a:solidFill>
            <a:srgbClr val="F3C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 flipV="1">
            <a:off x="8187354" y="5562112"/>
            <a:ext cx="0" cy="199156"/>
          </a:xfrm>
          <a:prstGeom prst="line">
            <a:avLst/>
          </a:prstGeom>
          <a:ln w="12700">
            <a:solidFill>
              <a:srgbClr val="F3C3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7390729" y="6491508"/>
            <a:ext cx="0" cy="44257"/>
          </a:xfrm>
          <a:prstGeom prst="line">
            <a:avLst/>
          </a:prstGeom>
          <a:ln w="8890">
            <a:solidFill>
              <a:srgbClr val="55B1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7390729" y="6417053"/>
            <a:ext cx="265542" cy="74455"/>
          </a:xfrm>
          <a:prstGeom prst="line">
            <a:avLst/>
          </a:prstGeom>
          <a:ln w="20320">
            <a:solidFill>
              <a:srgbClr val="55B1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7656271" y="6417053"/>
            <a:ext cx="0" cy="118712"/>
          </a:xfrm>
          <a:prstGeom prst="line">
            <a:avLst/>
          </a:prstGeom>
          <a:ln w="8890">
            <a:solidFill>
              <a:srgbClr val="55B1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656271" y="6347673"/>
            <a:ext cx="265541" cy="69380"/>
          </a:xfrm>
          <a:prstGeom prst="line">
            <a:avLst/>
          </a:prstGeom>
          <a:ln w="20320">
            <a:solidFill>
              <a:srgbClr val="55B1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921812" y="6347673"/>
            <a:ext cx="0" cy="188092"/>
          </a:xfrm>
          <a:prstGeom prst="line">
            <a:avLst/>
          </a:prstGeom>
          <a:ln w="8890">
            <a:solidFill>
              <a:srgbClr val="55B1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921812" y="6288094"/>
            <a:ext cx="265542" cy="59579"/>
          </a:xfrm>
          <a:prstGeom prst="line">
            <a:avLst/>
          </a:prstGeom>
          <a:ln w="20320">
            <a:solidFill>
              <a:srgbClr val="55B1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8187354" y="6288094"/>
            <a:ext cx="0" cy="247671"/>
          </a:xfrm>
          <a:prstGeom prst="line">
            <a:avLst/>
          </a:prstGeom>
          <a:ln w="8890">
            <a:solidFill>
              <a:srgbClr val="55B1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8187354" y="6242378"/>
            <a:ext cx="265542" cy="45716"/>
          </a:xfrm>
          <a:prstGeom prst="line">
            <a:avLst/>
          </a:prstGeom>
          <a:ln w="20320">
            <a:solidFill>
              <a:srgbClr val="55B1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8452896" y="6242378"/>
            <a:ext cx="0" cy="293387"/>
          </a:xfrm>
          <a:prstGeom prst="line">
            <a:avLst/>
          </a:prstGeom>
          <a:ln w="8890">
            <a:solidFill>
              <a:srgbClr val="55B1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8452896" y="6213640"/>
            <a:ext cx="265542" cy="28738"/>
          </a:xfrm>
          <a:prstGeom prst="line">
            <a:avLst/>
          </a:prstGeom>
          <a:ln w="20320">
            <a:solidFill>
              <a:srgbClr val="55B1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8718438" y="6213640"/>
            <a:ext cx="0" cy="322125"/>
          </a:xfrm>
          <a:prstGeom prst="line">
            <a:avLst/>
          </a:prstGeom>
          <a:ln w="8890">
            <a:solidFill>
              <a:srgbClr val="55B1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8718438" y="6203838"/>
            <a:ext cx="265542" cy="9802"/>
          </a:xfrm>
          <a:prstGeom prst="line">
            <a:avLst/>
          </a:prstGeom>
          <a:ln w="20320">
            <a:solidFill>
              <a:srgbClr val="55B1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983980" y="6203838"/>
            <a:ext cx="0" cy="331927"/>
          </a:xfrm>
          <a:prstGeom prst="line">
            <a:avLst/>
          </a:prstGeom>
          <a:ln w="8890">
            <a:solidFill>
              <a:srgbClr val="55B1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983980" y="6203838"/>
            <a:ext cx="265541" cy="9802"/>
          </a:xfrm>
          <a:prstGeom prst="line">
            <a:avLst/>
          </a:prstGeom>
          <a:ln w="20320">
            <a:solidFill>
              <a:srgbClr val="55B1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9249521" y="6213640"/>
            <a:ext cx="0" cy="322125"/>
          </a:xfrm>
          <a:prstGeom prst="line">
            <a:avLst/>
          </a:prstGeom>
          <a:ln w="8890">
            <a:solidFill>
              <a:srgbClr val="55B1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9249521" y="6213640"/>
            <a:ext cx="265542" cy="28738"/>
          </a:xfrm>
          <a:prstGeom prst="line">
            <a:avLst/>
          </a:prstGeom>
          <a:ln w="20320">
            <a:solidFill>
              <a:srgbClr val="55B1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9515063" y="6242378"/>
            <a:ext cx="0" cy="293387"/>
          </a:xfrm>
          <a:prstGeom prst="line">
            <a:avLst/>
          </a:prstGeom>
          <a:ln w="8890">
            <a:solidFill>
              <a:srgbClr val="55B1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9515063" y="6242378"/>
            <a:ext cx="265542" cy="45716"/>
          </a:xfrm>
          <a:prstGeom prst="line">
            <a:avLst/>
          </a:prstGeom>
          <a:ln w="20320">
            <a:solidFill>
              <a:srgbClr val="55B1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9780605" y="6288094"/>
            <a:ext cx="0" cy="247671"/>
          </a:xfrm>
          <a:prstGeom prst="line">
            <a:avLst/>
          </a:prstGeom>
          <a:ln w="8890">
            <a:solidFill>
              <a:srgbClr val="55B1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9780605" y="6288094"/>
            <a:ext cx="265542" cy="59579"/>
          </a:xfrm>
          <a:prstGeom prst="line">
            <a:avLst/>
          </a:prstGeom>
          <a:ln w="20320">
            <a:solidFill>
              <a:srgbClr val="55B1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10046147" y="6347673"/>
            <a:ext cx="0" cy="188092"/>
          </a:xfrm>
          <a:prstGeom prst="line">
            <a:avLst/>
          </a:prstGeom>
          <a:ln w="8890">
            <a:solidFill>
              <a:srgbClr val="55B1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10046147" y="6347673"/>
            <a:ext cx="265541" cy="69380"/>
          </a:xfrm>
          <a:prstGeom prst="line">
            <a:avLst/>
          </a:prstGeom>
          <a:ln w="20320">
            <a:solidFill>
              <a:srgbClr val="55B1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10311688" y="6417053"/>
            <a:ext cx="0" cy="118712"/>
          </a:xfrm>
          <a:prstGeom prst="line">
            <a:avLst/>
          </a:prstGeom>
          <a:ln w="8890">
            <a:solidFill>
              <a:srgbClr val="55B1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10311688" y="6417053"/>
            <a:ext cx="265542" cy="74455"/>
          </a:xfrm>
          <a:prstGeom prst="line">
            <a:avLst/>
          </a:prstGeom>
          <a:ln w="20320">
            <a:solidFill>
              <a:srgbClr val="55B1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10577230" y="6491508"/>
            <a:ext cx="0" cy="44257"/>
          </a:xfrm>
          <a:prstGeom prst="line">
            <a:avLst/>
          </a:prstGeom>
          <a:ln w="8890">
            <a:solidFill>
              <a:srgbClr val="55B1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7722656" y="6679600"/>
            <a:ext cx="2555840" cy="0"/>
          </a:xfrm>
          <a:prstGeom prst="line">
            <a:avLst/>
          </a:prstGeom>
          <a:ln w="9525">
            <a:solidFill>
              <a:srgbClr val="55B1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7722656" y="6734464"/>
            <a:ext cx="2555840" cy="0"/>
          </a:xfrm>
          <a:prstGeom prst="line">
            <a:avLst/>
          </a:prstGeom>
          <a:ln w="9525">
            <a:solidFill>
              <a:srgbClr val="55B1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7722656" y="6789328"/>
            <a:ext cx="2555840" cy="0"/>
          </a:xfrm>
          <a:prstGeom prst="line">
            <a:avLst/>
          </a:prstGeom>
          <a:ln w="9525">
            <a:solidFill>
              <a:srgbClr val="55B1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7479792" y="712317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1000"/>
              </a:lnSpc>
              <a:spcAft>
                <a:spcPts val="0"/>
              </a:spcAft>
            </a:pPr>
            <a:r>
              <a:rPr sz="730" b="0" i="0">
                <a:solidFill>
                  <a:srgbClr val="C3D0E8"/>
                </a:solidFill>
                <a:latin typeface="DejaVu Sans"/>
              </a:rPr>
              <a:t>Android · самостоятельные прогулки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564002" cy="7560003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4002" y="0"/>
            <a:ext cx="3564002" cy="7560003"/>
          </a:xfrm>
          <a:prstGeom prst="rect">
            <a:avLst/>
          </a:prstGeom>
          <a:solidFill>
            <a:srgbClr val="EA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128004" y="0"/>
            <a:ext cx="3564002" cy="7560003"/>
          </a:xfrm>
          <a:prstGeom prst="rect">
            <a:avLst/>
          </a:prstGeom>
          <a:solidFill>
            <a:srgbClr val="FC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564002" cy="77724"/>
          </a:xfrm>
          <a:prstGeom prst="rect">
            <a:avLst/>
          </a:prstGeom>
          <a:solidFill>
            <a:srgbClr val="004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564002" y="0"/>
            <a:ext cx="3564002" cy="77724"/>
          </a:xfrm>
          <a:prstGeom prst="rect">
            <a:avLst/>
          </a:prstGeom>
          <a:solidFill>
            <a:srgbClr val="55B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28004" y="0"/>
            <a:ext cx="3564002" cy="77724"/>
          </a:xfrm>
          <a:prstGeom prst="rect">
            <a:avLst/>
          </a:prstGeom>
          <a:solidFill>
            <a:srgbClr val="F3C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393192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0049B3"/>
                </a:solidFill>
                <a:latin typeface="DejaVu Sans"/>
              </a:rPr>
              <a:t>01  /  ИССЛЕДУЙТЕ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768096"/>
            <a:ext cx="2898648" cy="8138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000" b="1" i="0">
                <a:solidFill>
                  <a:srgbClr val="06152F"/>
                </a:solidFill>
                <a:latin typeface="DejaVu Sans"/>
              </a:rPr>
              <a:t>Петербург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000" b="1" i="0">
                <a:solidFill>
                  <a:srgbClr val="06152F"/>
                </a:solidFill>
                <a:latin typeface="DejaVu Sans"/>
              </a:rPr>
              <a:t>рядом с вами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865376"/>
            <a:ext cx="1618488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350" b="1" i="0">
                <a:solidFill>
                  <a:srgbClr val="0049B3"/>
                </a:solidFill>
                <a:latin typeface="DejaVu Sans"/>
              </a:rPr>
              <a:t>180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56816" y="2020824"/>
            <a:ext cx="1170432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10" b="1" i="0">
                <a:solidFill>
                  <a:srgbClr val="06152F"/>
                </a:solidFill>
                <a:latin typeface="DejaVu Sans"/>
              </a:rPr>
              <a:t>мест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10" b="1" i="0">
                <a:solidFill>
                  <a:srgbClr val="06152F"/>
                </a:solidFill>
                <a:latin typeface="DejaVu Sans"/>
              </a:rPr>
              <a:t>в каталоге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2862072"/>
            <a:ext cx="2862072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3000"/>
              </a:lnSpc>
              <a:spcAft>
                <a:spcPts val="0"/>
              </a:spcAft>
            </a:pPr>
            <a:r>
              <a:rPr sz="969" b="0" i="0">
                <a:solidFill>
                  <a:srgbClr val="526584"/>
                </a:solidFill>
                <a:latin typeface="DejaVu Sans"/>
              </a:rPr>
              <a:t>Знакомые символы города, необычные места, набережные и пространства для прогулок.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3840480"/>
            <a:ext cx="2871216" cy="1024128"/>
          </a:xfrm>
          <a:prstGeom prst="roundRect">
            <a:avLst>
              <a:gd name="adj" fmla="val 11000"/>
            </a:avLst>
          </a:prstGeom>
          <a:solidFill>
            <a:srgbClr val="E5E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3977639"/>
            <a:ext cx="2478024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1000"/>
              </a:lnSpc>
              <a:spcAft>
                <a:spcPts val="0"/>
              </a:spcAft>
            </a:pPr>
            <a:r>
              <a:rPr sz="1019" b="1" i="0">
                <a:solidFill>
                  <a:srgbClr val="06152F"/>
                </a:solidFill>
                <a:latin typeface="DejaVu Sans"/>
              </a:rPr>
              <a:t>35 исторических справок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4288536"/>
            <a:ext cx="2478024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844" b="0" i="0">
                <a:solidFill>
                  <a:srgbClr val="526584"/>
                </a:solidFill>
                <a:latin typeface="DejaVu Sans"/>
              </a:rPr>
              <a:t>Для части мест — отдельные рассказы об их прошлом.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0040" y="5285232"/>
            <a:ext cx="2862072" cy="0"/>
          </a:xfrm>
          <a:prstGeom prst="line">
            <a:avLst/>
          </a:prstGeom>
          <a:ln w="8890">
            <a:solidFill>
              <a:srgbClr val="C5D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38328" y="5504688"/>
            <a:ext cx="2834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1000"/>
              </a:lnSpc>
              <a:spcAft>
                <a:spcPts val="0"/>
              </a:spcAft>
            </a:pPr>
            <a:r>
              <a:rPr sz="1019" b="1" i="0">
                <a:solidFill>
                  <a:srgbClr val="0049B3"/>
                </a:solidFill>
                <a:latin typeface="DejaVu Sans"/>
              </a:rPr>
              <a:t>Выбирайте, что интересно именно вам.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" y="5998464"/>
            <a:ext cx="2852928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10" b="0" i="0">
                <a:solidFill>
                  <a:srgbClr val="06152F"/>
                </a:solidFill>
                <a:latin typeface="DejaVu Sans"/>
              </a:rPr>
              <a:t>Открывайте карточки мест, сохраняйте понравившееся в избранном, возвращайтесь к ним позже.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" y="7150608"/>
            <a:ext cx="279806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1000"/>
              </a:lnSpc>
              <a:spcAft>
                <a:spcPts val="0"/>
              </a:spcAft>
            </a:pPr>
            <a:r>
              <a:rPr sz="780" b="1" i="0">
                <a:solidFill>
                  <a:srgbClr val="526584"/>
                </a:solidFill>
                <a:latin typeface="DejaVu Sans"/>
              </a:rPr>
              <a:t>01  •  МЕСТА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77056" y="393192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0049B3"/>
                </a:solidFill>
                <a:latin typeface="DejaVu Sans"/>
              </a:rPr>
              <a:t>02  /  ПЛАНИРУЙТЕ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77056" y="777240"/>
            <a:ext cx="2935224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000" b="1" i="0">
                <a:solidFill>
                  <a:srgbClr val="06152F"/>
                </a:solidFill>
                <a:latin typeface="DejaVu Sans"/>
              </a:rPr>
              <a:t>Составьте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000" b="1" i="0">
                <a:solidFill>
                  <a:srgbClr val="06152F"/>
                </a:solidFill>
                <a:latin typeface="DejaVu Sans"/>
              </a:rPr>
              <a:t>свою прогулку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77056" y="2011680"/>
            <a:ext cx="2852928" cy="7223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1000"/>
              </a:lnSpc>
              <a:spcAft>
                <a:spcPts val="0"/>
              </a:spcAft>
            </a:pPr>
            <a:r>
              <a:rPr sz="980" b="0" i="0">
                <a:solidFill>
                  <a:srgbClr val="526584"/>
                </a:solidFill>
                <a:latin typeface="DejaVu Sans"/>
              </a:rPr>
              <a:t>Smart Walk предложит последовательность мест по интересам и свободному времени.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31336" y="3063240"/>
            <a:ext cx="2962656" cy="2441448"/>
          </a:xfrm>
          <a:prstGeom prst="roundRect">
            <a:avLst>
              <a:gd name="adj" fmla="val 11000"/>
            </a:avLst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4251960" y="3557016"/>
            <a:ext cx="0" cy="1508760"/>
          </a:xfrm>
          <a:prstGeom prst="line">
            <a:avLst/>
          </a:prstGeom>
          <a:ln w="25400">
            <a:solidFill>
              <a:srgbClr val="9AC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4078224" y="3474720"/>
            <a:ext cx="338328" cy="338328"/>
          </a:xfrm>
          <a:prstGeom prst="ellipse">
            <a:avLst/>
          </a:prstGeom>
          <a:solidFill>
            <a:srgbClr val="004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78224" y="3488436"/>
            <a:ext cx="33832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1000"/>
              </a:lnSpc>
              <a:spcAft>
                <a:spcPts val="0"/>
              </a:spcAft>
            </a:pPr>
            <a:r>
              <a:rPr sz="980" b="1" i="0">
                <a:solidFill>
                  <a:srgbClr val="F4F7FF"/>
                </a:solidFill>
                <a:latin typeface="DejaVu Sans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35424" y="3429000"/>
            <a:ext cx="202082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1000"/>
              </a:lnSpc>
              <a:spcAft>
                <a:spcPts val="0"/>
              </a:spcAft>
            </a:pPr>
            <a:r>
              <a:rPr sz="1000" b="1" i="0">
                <a:solidFill>
                  <a:srgbClr val="06152F"/>
                </a:solidFill>
                <a:latin typeface="DejaVu Sans"/>
              </a:rPr>
              <a:t>Выберите интересы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35424" y="3739896"/>
            <a:ext cx="199339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1000"/>
              </a:lnSpc>
              <a:spcAft>
                <a:spcPts val="0"/>
              </a:spcAft>
            </a:pPr>
            <a:r>
              <a:rPr sz="750" b="0" i="0">
                <a:solidFill>
                  <a:srgbClr val="526584"/>
                </a:solidFill>
                <a:latin typeface="DejaVu Sans"/>
              </a:rPr>
              <a:t>Какие места хочется увидеть</a:t>
            </a:r>
          </a:p>
        </p:txBody>
      </p:sp>
      <p:sp>
        <p:nvSpPr>
          <p:cNvPr id="29" name="Oval 28"/>
          <p:cNvSpPr/>
          <p:nvPr/>
        </p:nvSpPr>
        <p:spPr>
          <a:xfrm>
            <a:off x="4078224" y="4187952"/>
            <a:ext cx="338328" cy="338328"/>
          </a:xfrm>
          <a:prstGeom prst="ellipse">
            <a:avLst/>
          </a:prstGeom>
          <a:solidFill>
            <a:srgbClr val="004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78224" y="4201668"/>
            <a:ext cx="33832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1000"/>
              </a:lnSpc>
              <a:spcAft>
                <a:spcPts val="0"/>
              </a:spcAft>
            </a:pPr>
            <a:r>
              <a:rPr sz="980" b="1" i="0">
                <a:solidFill>
                  <a:srgbClr val="F4F7FF"/>
                </a:solidFill>
                <a:latin typeface="DejaVu San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35424" y="4142232"/>
            <a:ext cx="202082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1000"/>
              </a:lnSpc>
              <a:spcAft>
                <a:spcPts val="0"/>
              </a:spcAft>
            </a:pPr>
            <a:r>
              <a:rPr sz="1000" b="1" i="0">
                <a:solidFill>
                  <a:srgbClr val="06152F"/>
                </a:solidFill>
                <a:latin typeface="DejaVu Sans"/>
              </a:rPr>
              <a:t>Укажите время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35424" y="4453128"/>
            <a:ext cx="199339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1000"/>
              </a:lnSpc>
              <a:spcAft>
                <a:spcPts val="0"/>
              </a:spcAft>
            </a:pPr>
            <a:r>
              <a:rPr sz="750" b="0" i="0">
                <a:solidFill>
                  <a:srgbClr val="526584"/>
                </a:solidFill>
                <a:latin typeface="DejaVu Sans"/>
              </a:rPr>
              <a:t>Сколько есть на прогулку</a:t>
            </a:r>
          </a:p>
        </p:txBody>
      </p:sp>
      <p:sp>
        <p:nvSpPr>
          <p:cNvPr id="33" name="Oval 32"/>
          <p:cNvSpPr/>
          <p:nvPr/>
        </p:nvSpPr>
        <p:spPr>
          <a:xfrm>
            <a:off x="4078224" y="4910328"/>
            <a:ext cx="338328" cy="338328"/>
          </a:xfrm>
          <a:prstGeom prst="ellipse">
            <a:avLst/>
          </a:prstGeom>
          <a:solidFill>
            <a:srgbClr val="004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78224" y="4924044"/>
            <a:ext cx="33832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1000"/>
              </a:lnSpc>
              <a:spcAft>
                <a:spcPts val="0"/>
              </a:spcAft>
            </a:pPr>
            <a:r>
              <a:rPr sz="980" b="1" i="0">
                <a:solidFill>
                  <a:srgbClr val="F4F7FF"/>
                </a:solidFill>
                <a:latin typeface="DejaVu Sans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35424" y="4864608"/>
            <a:ext cx="202082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1000"/>
              </a:lnSpc>
              <a:spcAft>
                <a:spcPts val="0"/>
              </a:spcAft>
            </a:pPr>
            <a:r>
              <a:rPr sz="1000" b="1" i="0">
                <a:solidFill>
                  <a:srgbClr val="06152F"/>
                </a:solidFill>
                <a:latin typeface="DejaVu Sans"/>
              </a:rPr>
              <a:t>Постройте путь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5175504"/>
            <a:ext cx="199339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1000"/>
              </a:lnSpc>
              <a:spcAft>
                <a:spcPts val="0"/>
              </a:spcAft>
            </a:pPr>
            <a:r>
              <a:rPr sz="750" b="0" i="0">
                <a:solidFill>
                  <a:srgbClr val="526584"/>
                </a:solidFill>
                <a:latin typeface="DejaVu Sans"/>
              </a:rPr>
              <a:t>Маршрут покажет MapKit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867912" y="5760720"/>
            <a:ext cx="2880360" cy="621792"/>
          </a:xfrm>
          <a:prstGeom prst="roundRect">
            <a:avLst>
              <a:gd name="adj" fmla="val 11000"/>
            </a:avLst>
          </a:prstGeom>
          <a:solidFill>
            <a:srgbClr val="D3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32504" y="5870448"/>
            <a:ext cx="256032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10" b="1" i="0">
                <a:solidFill>
                  <a:srgbClr val="06152F"/>
                </a:solidFill>
                <a:latin typeface="DejaVu Sans"/>
              </a:rPr>
              <a:t>Маршрут: официальный Yandex MapKit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77056" y="6556248"/>
            <a:ext cx="2816352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50" b="0" i="0">
                <a:solidFill>
                  <a:srgbClr val="526584"/>
                </a:solidFill>
                <a:latin typeface="DejaVu Sans"/>
              </a:rPr>
              <a:t>Примерное время — ориентир,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850" b="0" i="0">
                <a:solidFill>
                  <a:srgbClr val="526584"/>
                </a:solidFill>
                <a:latin typeface="DejaVu Sans"/>
              </a:rPr>
              <a:t>не точный прогноз.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77056" y="7150608"/>
            <a:ext cx="279806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1000"/>
              </a:lnSpc>
              <a:spcAft>
                <a:spcPts val="0"/>
              </a:spcAft>
            </a:pPr>
            <a:r>
              <a:rPr sz="780" b="1" i="0">
                <a:solidFill>
                  <a:srgbClr val="526584"/>
                </a:solidFill>
                <a:latin typeface="DejaVu Sans"/>
              </a:rPr>
              <a:t>02  •  ПРОГУЛКА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52360" y="393192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 i="0">
                <a:solidFill>
                  <a:srgbClr val="0049B3"/>
                </a:solidFill>
                <a:latin typeface="DejaVu Sans"/>
              </a:rPr>
              <a:t>03  /  ЗАМЕЧАЙТЕ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52360" y="777240"/>
            <a:ext cx="2852928" cy="877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000" b="1" i="0">
                <a:solidFill>
                  <a:srgbClr val="06152F"/>
                </a:solidFill>
                <a:latin typeface="DejaVu Sans"/>
              </a:rPr>
              <a:t>За маршрутом —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000" b="1" i="0">
                <a:solidFill>
                  <a:srgbClr val="06152F"/>
                </a:solidFill>
                <a:latin typeface="DejaVu Sans"/>
              </a:rPr>
              <a:t>целый город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52360" y="1965960"/>
            <a:ext cx="2862072" cy="7223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44" b="0" i="0">
                <a:solidFill>
                  <a:srgbClr val="526584"/>
                </a:solidFill>
                <a:latin typeface="DejaVu Sans"/>
              </a:rPr>
              <a:t>Пешеходные подсказки помогают ориентироваться, а карточки мест — узнавать больше.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34072" y="2990088"/>
            <a:ext cx="2916936" cy="905256"/>
          </a:xfrm>
          <a:prstGeom prst="roundRect">
            <a:avLst>
              <a:gd name="adj" fmla="val 11000"/>
            </a:avLst>
          </a:prstGeom>
          <a:solidFill>
            <a:srgbClr val="FFF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607808" y="3209544"/>
            <a:ext cx="137160" cy="137160"/>
          </a:xfrm>
          <a:prstGeom prst="ellipse">
            <a:avLst/>
          </a:prstGeom>
          <a:solidFill>
            <a:srgbClr val="004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45552" y="3099816"/>
            <a:ext cx="22677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1000"/>
              </a:lnSpc>
              <a:spcAft>
                <a:spcPts val="0"/>
              </a:spcAft>
            </a:pPr>
            <a:r>
              <a:rPr sz="969" b="1" i="0">
                <a:solidFill>
                  <a:srgbClr val="06152F"/>
                </a:solidFill>
                <a:latin typeface="DejaVu Sans"/>
              </a:rPr>
              <a:t>Пешая навигация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45552" y="3401568"/>
            <a:ext cx="223113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0" i="0">
                <a:solidFill>
                  <a:srgbClr val="526584"/>
                </a:solidFill>
                <a:latin typeface="DejaVu Sans"/>
              </a:rPr>
              <a:t>GPS-подсказки и ручное перестроение.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434072" y="4050791"/>
            <a:ext cx="2916936" cy="905256"/>
          </a:xfrm>
          <a:prstGeom prst="roundRect">
            <a:avLst>
              <a:gd name="adj" fmla="val 11000"/>
            </a:avLst>
          </a:prstGeom>
          <a:solidFill>
            <a:srgbClr val="F2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607808" y="4270248"/>
            <a:ext cx="137160" cy="137160"/>
          </a:xfrm>
          <a:prstGeom prst="ellipse">
            <a:avLst/>
          </a:prstGeom>
          <a:solidFill>
            <a:srgbClr val="004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45552" y="4160520"/>
            <a:ext cx="22677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1000"/>
              </a:lnSpc>
              <a:spcAft>
                <a:spcPts val="0"/>
              </a:spcAft>
            </a:pPr>
            <a:r>
              <a:rPr sz="969" b="1" i="0">
                <a:solidFill>
                  <a:srgbClr val="06152F"/>
                </a:solidFill>
                <a:latin typeface="DejaVu Sans"/>
              </a:rPr>
              <a:t>Оценки условий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45552" y="4462272"/>
            <a:ext cx="223113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0" i="0">
                <a:solidFill>
                  <a:srgbClr val="526584"/>
                </a:solidFill>
                <a:latin typeface="DejaVu Sans"/>
              </a:rPr>
              <a:t>Тень, тишина, покрытие и пыльца — по моделям.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34072" y="5111496"/>
            <a:ext cx="2916936" cy="905256"/>
          </a:xfrm>
          <a:prstGeom prst="roundRect">
            <a:avLst>
              <a:gd name="adj" fmla="val 11000"/>
            </a:avLst>
          </a:prstGeom>
          <a:solidFill>
            <a:srgbClr val="F5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607808" y="5330952"/>
            <a:ext cx="137160" cy="137160"/>
          </a:xfrm>
          <a:prstGeom prst="ellipse">
            <a:avLst/>
          </a:prstGeom>
          <a:solidFill>
            <a:srgbClr val="0049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845552" y="5221224"/>
            <a:ext cx="22677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1000"/>
              </a:lnSpc>
              <a:spcAft>
                <a:spcPts val="0"/>
              </a:spcAft>
            </a:pPr>
            <a:r>
              <a:rPr sz="969" b="1" i="0">
                <a:solidFill>
                  <a:srgbClr val="06152F"/>
                </a:solidFill>
                <a:latin typeface="DejaVu Sans"/>
              </a:rPr>
              <a:t>Дополнительные функции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45552" y="5522976"/>
            <a:ext cx="223113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0" i="0">
                <a:solidFill>
                  <a:srgbClr val="526584"/>
                </a:solidFill>
                <a:latin typeface="DejaVu Sans"/>
              </a:rPr>
              <a:t>Голос и ИИ-помощник при доступности сервисов.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70648" y="6272784"/>
            <a:ext cx="2843784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1" i="0">
                <a:solidFill>
                  <a:srgbClr val="0049B3"/>
                </a:solidFill>
                <a:latin typeface="DejaVu Sans"/>
              </a:rPr>
              <a:t>Без аккаунта. Избранное и настройки остаются на устройстве.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52360" y="7141464"/>
            <a:ext cx="280720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1000"/>
              </a:lnSpc>
              <a:spcAft>
                <a:spcPts val="0"/>
              </a:spcAft>
            </a:pPr>
            <a:r>
              <a:rPr sz="780" b="1" i="0">
                <a:solidFill>
                  <a:srgbClr val="526584"/>
                </a:solidFill>
                <a:latin typeface="DejaVu Sans"/>
              </a:rPr>
              <a:t>03  •  ОТКРЫТИЯ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Петербург в деталях — маркетинговый буклет v1.0</dc:title>
  <dc:subject>Двусторонний буклет A4, три сгиба, Android 1.1.1</dc:subject>
  <dc:creator>Петербург в деталях</dc:creator>
  <cp:keywords>Android, Санкт-Петербург, маршрут, прогулки, буклет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