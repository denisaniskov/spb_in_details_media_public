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Публичный релиз Android v1.1.1+3 подтверждён GitHub Release от 26.10.2026. Фирменная иконка — производный favicon из официального репозитория сайта.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 180 мест и 35 исторических карточек подтверждены публичным backend README и Android README. Иллюстрация справа выполнена векторными фигурами и не воспроизводит настоящий интерфейс.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pb-in-details.vercel.app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github.com/DenisAniskov/SPb_in_Details_public/releases/tag/v1.1.1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nisAniskov/SPb_in_Details_public" TargetMode="External"/><Relationship Id="rId3" Type="http://schemas.openxmlformats.org/officeDocument/2006/relationships/hyperlink" Target="https://github.com/DenisAniskov/SPb_in_Details_Backend_public" TargetMode="External"/><Relationship Id="rId4" Type="http://schemas.openxmlformats.org/officeDocument/2006/relationships/hyperlink" Target="https://github.com/DenisAniskov/SPb_in_Details_public/releases/tag/v1.1.1" TargetMode="External"/><Relationship Id="rId5" Type="http://schemas.openxmlformats.org/officeDocument/2006/relationships/hyperlink" Target="https://spb-in-details.vercel.app" TargetMode="External"/><Relationship Id="rId6" Type="http://schemas.openxmlformats.org/officeDocument/2006/relationships/hyperlink" Target="https://www.openstreetmap.org/copyrigh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105656" cy="685800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-1371600"/>
            <a:ext cx="5852160" cy="5852160"/>
          </a:xfrm>
          <a:prstGeom prst="ellipse">
            <a:avLst/>
          </a:prstGeom>
          <a:noFill/>
          <a:ln w="8890">
            <a:solidFill>
              <a:srgbClr val="0B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44383" y="-1618488"/>
            <a:ext cx="6254496" cy="6254496"/>
          </a:xfrm>
          <a:prstGeom prst="ellipse">
            <a:avLst/>
          </a:prstGeom>
          <a:noFill/>
          <a:ln w="8890">
            <a:solidFill>
              <a:srgbClr val="00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33488" y="-1865376"/>
            <a:ext cx="6656832" cy="6656832"/>
          </a:xfrm>
          <a:prstGeom prst="ellipse">
            <a:avLst/>
          </a:prstGeom>
          <a:noFill/>
          <a:ln w="8890">
            <a:solidFill>
              <a:srgbClr val="0B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22592" y="-2112264"/>
            <a:ext cx="7059168" cy="7059168"/>
          </a:xfrm>
          <a:prstGeom prst="ellipse">
            <a:avLst/>
          </a:prstGeom>
          <a:noFill/>
          <a:ln w="8890">
            <a:solidFill>
              <a:srgbClr val="00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11695" y="-2359152"/>
            <a:ext cx="7461504" cy="7461504"/>
          </a:xfrm>
          <a:prstGeom prst="ellipse">
            <a:avLst/>
          </a:prstGeom>
          <a:noFill/>
          <a:ln w="8890">
            <a:solidFill>
              <a:srgbClr val="0B2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658368"/>
            <a:ext cx="548640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8E8FC"/>
                </a:solidFill>
                <a:latin typeface="Inter"/>
              </a:rPr>
              <a:t>АНДРОИД-ПРИЛОЖЕНИЕ · САНКТ-ПЕТЕРБУРГ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45336"/>
            <a:ext cx="7315200" cy="16733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300" b="1" i="0">
                <a:solidFill>
                  <a:srgbClr val="F4F7FF"/>
                </a:solidFill>
                <a:latin typeface="Inter"/>
              </a:rPr>
              <a:t>Петербург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300" b="1" i="0">
                <a:solidFill>
                  <a:srgbClr val="F4F7FF"/>
                </a:solidFill>
                <a:latin typeface="Inter"/>
              </a:rPr>
              <a:t>в деталях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502152"/>
            <a:ext cx="685800" cy="0"/>
          </a:xfrm>
          <a:prstGeom prst="line">
            <a:avLst/>
          </a:prstGeom>
          <a:ln w="635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3785615"/>
            <a:ext cx="6858000" cy="6858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EE095"/>
                </a:solidFill>
                <a:latin typeface="Inter"/>
              </a:rPr>
              <a:t>Замечай больше. Открывай Петербург.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736592"/>
            <a:ext cx="6172200" cy="79552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3D0E8"/>
                </a:solidFill>
                <a:latin typeface="Inter"/>
              </a:rPr>
              <a:t>Городской пешеходный навигатор, который помогает замечать интересные места по дороге.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" y="5824728"/>
            <a:ext cx="1554480" cy="365760"/>
          </a:xfrm>
          <a:prstGeom prst="roundRect">
            <a:avLst>
              <a:gd name="adj" fmla="val 27000"/>
            </a:avLst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47588"/>
            <a:ext cx="1316736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6152F"/>
                </a:solidFill>
                <a:latin typeface="Inter"/>
              </a:rPr>
              <a:t>180 мест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5824728"/>
            <a:ext cx="1956816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5847588"/>
            <a:ext cx="1719072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4F7FF"/>
                </a:solidFill>
                <a:latin typeface="Inter"/>
              </a:rPr>
              <a:t>Android 8.0+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5824728"/>
            <a:ext cx="1773936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5847588"/>
            <a:ext cx="1536192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4F7FF"/>
                </a:solidFill>
                <a:latin typeface="Inter"/>
              </a:rPr>
              <a:t>v1.1.1 + 3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4636008"/>
            <a:ext cx="685800" cy="1078992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327898" y="4837176"/>
            <a:ext cx="0" cy="73152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99348" y="4837176"/>
            <a:ext cx="0" cy="73152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70798" y="4837176"/>
            <a:ext cx="0" cy="73152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979408" y="3767328"/>
            <a:ext cx="512064" cy="1947672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107424" y="3968496"/>
            <a:ext cx="0" cy="16002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40" y="3968496"/>
            <a:ext cx="0" cy="16002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63456" y="3968496"/>
            <a:ext cx="0" cy="16002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19488" y="4453128"/>
            <a:ext cx="841248" cy="1261872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829800" y="4654296"/>
            <a:ext cx="0" cy="9144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40112" y="4654296"/>
            <a:ext cx="0" cy="9144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0424" y="4654296"/>
            <a:ext cx="0" cy="914400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616184" y="3959352"/>
            <a:ext cx="484632" cy="1755648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737342" y="4160520"/>
            <a:ext cx="0" cy="1408176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858500" y="4160520"/>
            <a:ext cx="0" cy="1408176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979658" y="4160520"/>
            <a:ext cx="0" cy="1408176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1274552" y="4443984"/>
            <a:ext cx="658368" cy="1271016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1439144" y="4645152"/>
            <a:ext cx="0" cy="923544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603736" y="4645152"/>
            <a:ext cx="0" cy="923544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768328" y="4645152"/>
            <a:ext cx="0" cy="923544"/>
          </a:xfrm>
          <a:prstGeom prst="line">
            <a:avLst/>
          </a:prstGeom>
          <a:ln w="1143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853928" y="2743200"/>
            <a:ext cx="0" cy="1225296"/>
          </a:xfrm>
          <a:prstGeom prst="line">
            <a:avLst/>
          </a:prstGeom>
          <a:ln w="29209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74152" y="5870448"/>
            <a:ext cx="4123944" cy="0"/>
          </a:xfrm>
          <a:prstGeom prst="line">
            <a:avLst/>
          </a:prstGeom>
          <a:ln w="1397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74152" y="6089904"/>
            <a:ext cx="4123944" cy="0"/>
          </a:xfrm>
          <a:prstGeom prst="line">
            <a:avLst/>
          </a:prstGeom>
          <a:ln w="1397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302752" y="6245352"/>
            <a:ext cx="3346704" cy="25603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3D0E8"/>
                </a:solidFill>
                <a:latin typeface="Inter"/>
              </a:rPr>
              <a:t>Презентация продукта · Октябрь 2026</a:t>
            </a:r>
          </a:p>
        </p:txBody>
      </p:sp>
      <p:pic>
        <p:nvPicPr>
          <p:cNvPr id="45" name="Picture 44" descr="icon_round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48640"/>
            <a:ext cx="941832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01 / ИДЕЯ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Между точками есть город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Постройте путь — и найдите, ради чего стоит посмотреть по сторонам.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798064"/>
            <a:ext cx="3593592" cy="2560320"/>
          </a:xfrm>
          <a:prstGeom prst="roundRect">
            <a:avLst>
              <a:gd name="adj" fmla="val 10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999232"/>
            <a:ext cx="109728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0049B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675887"/>
            <a:ext cx="299923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Найти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288536"/>
            <a:ext cx="2880360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26584"/>
                </a:solidFill>
                <a:latin typeface="Inter"/>
              </a:rPr>
              <a:t>Каталог городских объектов, которые хочется увидеть.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2798064"/>
            <a:ext cx="3593592" cy="2560320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999232"/>
            <a:ext cx="109728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AF7B20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675887"/>
            <a:ext cx="299923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Выбрать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288536"/>
            <a:ext cx="2880360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26584"/>
                </a:solidFill>
                <a:latin typeface="Inter"/>
              </a:rPr>
              <a:t>Прогулка под интересы и доступное время.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2798064"/>
            <a:ext cx="3593592" cy="2560320"/>
          </a:xfrm>
          <a:prstGeom prst="roundRect">
            <a:avLst>
              <a:gd name="adj" fmla="val 10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999232"/>
            <a:ext cx="1097280" cy="521207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0049B3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675887"/>
            <a:ext cx="299923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Узнать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88536"/>
            <a:ext cx="2880360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526584"/>
                </a:solidFill>
                <a:latin typeface="Inter"/>
              </a:rPr>
              <a:t>Описание места и исторический контекст.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5586984"/>
            <a:ext cx="10963656" cy="530352"/>
          </a:xfrm>
          <a:prstGeom prst="roundRect">
            <a:avLst>
              <a:gd name="adj" fmla="val 11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60136"/>
            <a:ext cx="10515600" cy="3474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4F7FF"/>
                </a:solidFill>
                <a:latin typeface="Inter"/>
              </a:rPr>
              <a:t>Не универсальный транспортный навигатор — инструмент для самостоятельной пешей прогулки.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02 / КАТАЛОГ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32688"/>
            <a:ext cx="6537960" cy="1033271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Начните с интересного места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5806440" cy="6858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526584"/>
                </a:solidFill>
                <a:latin typeface="Inter"/>
              </a:rPr>
              <a:t>Редакционная подборка для прогулок по Санкт-Петербургу.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34640"/>
            <a:ext cx="3246120" cy="1033271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600" b="1" i="0">
                <a:solidFill>
                  <a:srgbClr val="0049B3"/>
                </a:solidFill>
                <a:latin typeface="Inter"/>
              </a:rP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3017520"/>
            <a:ext cx="2944368" cy="6035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Inter"/>
              </a:rPr>
              <a:t>мест в каталоге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" y="4087368"/>
            <a:ext cx="5605272" cy="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" y="4242816"/>
            <a:ext cx="1828800" cy="71323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500" b="1" i="0">
                <a:solidFill>
                  <a:srgbClr val="B78220"/>
                </a:solidFill>
                <a:latin typeface="Inter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4370832"/>
            <a:ext cx="4069080" cy="7406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6152F"/>
                </a:solidFill>
                <a:latin typeface="Inter"/>
              </a:rPr>
              <a:t>исторических справок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06152F"/>
                </a:solidFill>
                <a:latin typeface="Inter"/>
              </a:rPr>
              <a:t>для части объектов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5614416"/>
            <a:ext cx="5779008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26584"/>
                </a:solidFill>
                <a:latin typeface="Inter"/>
              </a:rPr>
              <a:t>Каталог — выборка, а не полный список достопримечательностей города.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960120"/>
            <a:ext cx="4096512" cy="5404104"/>
          </a:xfrm>
          <a:prstGeom prst="roundRect">
            <a:avLst>
              <a:gd name="adj" fmla="val 11000"/>
            </a:avLst>
          </a:prstGeom>
          <a:solidFill>
            <a:srgbClr val="E8F1F8"/>
          </a:solidFill>
          <a:ln w="1270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83880" y="1042416"/>
            <a:ext cx="2368296" cy="5010912"/>
          </a:xfrm>
          <a:prstGeom prst="roundRect">
            <a:avLst>
              <a:gd name="adj" fmla="val 11000"/>
            </a:avLst>
          </a:prstGeom>
          <a:solidFill>
            <a:srgbClr val="FAFBFF"/>
          </a:solidFill>
          <a:ln w="12700"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161288"/>
            <a:ext cx="2148840" cy="4773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43800" y="6099048"/>
            <a:ext cx="365760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4CA9"/>
                </a:solidFill>
                <a:latin typeface="Arial"/>
              </a:rPr>
              <a:t>НАСТОЯЩИЙ ЭКРАН · АРХИВ v1.0.0+1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03 / SMART WALK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Прогулка начинается с ваших интересов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Никакого расписания: вы выбираете, что интересно, и сколько есть времени.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" y="2505456"/>
            <a:ext cx="6903720" cy="694944"/>
          </a:xfrm>
          <a:prstGeom prst="roundRect">
            <a:avLst>
              <a:gd name="adj" fmla="val 11000"/>
            </a:avLst>
          </a:prstGeom>
          <a:solidFill>
            <a:srgbClr val="E7F1F9"/>
          </a:solidFill>
          <a:ln w="12700"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256" y="2651760"/>
            <a:ext cx="402336" cy="402336"/>
          </a:xfrm>
          <a:prstGeom prst="ellipse">
            <a:avLst/>
          </a:prstGeom>
          <a:solidFill>
            <a:srgbClr val="05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2688336"/>
            <a:ext cx="283464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AFBFF"/>
                </a:solidFill>
                <a:latin typeface="Arial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53896" y="2587752"/>
            <a:ext cx="5394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41439"/>
                </a:solidFill>
                <a:latin typeface="Arial"/>
              </a:rPr>
              <a:t>Укажите интересы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72184" y="2916936"/>
            <a:ext cx="5394960" cy="192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391"/>
                </a:solidFill>
                <a:latin typeface="Arial"/>
              </a:rPr>
              <a:t>Категории мест и предпочтения.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" y="3291840"/>
            <a:ext cx="6903720" cy="694944"/>
          </a:xfrm>
          <a:prstGeom prst="roundRect">
            <a:avLst>
              <a:gd name="adj" fmla="val 11000"/>
            </a:avLst>
          </a:prstGeom>
          <a:solidFill>
            <a:srgbClr val="FAF5E9"/>
          </a:solidFill>
          <a:ln w="12700"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5256" y="3438144"/>
            <a:ext cx="402336" cy="402336"/>
          </a:xfrm>
          <a:prstGeom prst="ellipse">
            <a:avLst/>
          </a:prstGeom>
          <a:solidFill>
            <a:srgbClr val="B88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3474720"/>
            <a:ext cx="283464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AFBFF"/>
                </a:solidFill>
                <a:latin typeface="Arial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53896" y="3374136"/>
            <a:ext cx="5394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41439"/>
                </a:solidFill>
                <a:latin typeface="Arial"/>
              </a:rPr>
              <a:t>Выберите время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72184" y="3703320"/>
            <a:ext cx="5394960" cy="192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391"/>
                </a:solidFill>
                <a:latin typeface="Arial"/>
              </a:rPr>
              <a:t>Ориентир для продолжительности прогулки.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" y="4078224"/>
            <a:ext cx="6903720" cy="694944"/>
          </a:xfrm>
          <a:prstGeom prst="roundRect">
            <a:avLst>
              <a:gd name="adj" fmla="val 11000"/>
            </a:avLst>
          </a:prstGeom>
          <a:solidFill>
            <a:srgbClr val="E7F1F9"/>
          </a:solidFill>
          <a:ln w="12700"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5256" y="4224528"/>
            <a:ext cx="402336" cy="402336"/>
          </a:xfrm>
          <a:prstGeom prst="ellipse">
            <a:avLst/>
          </a:prstGeom>
          <a:solidFill>
            <a:srgbClr val="054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4261104"/>
            <a:ext cx="283464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AFBFF"/>
                </a:solidFill>
                <a:latin typeface="Arial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53896" y="4160520"/>
            <a:ext cx="5394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41439"/>
                </a:solidFill>
                <a:latin typeface="Arial"/>
              </a:rPr>
              <a:t>Получите подборку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72184" y="4489704"/>
            <a:ext cx="5394960" cy="192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391"/>
                </a:solidFill>
                <a:latin typeface="Arial"/>
              </a:rPr>
              <a:t>Smart Walk предложит последовательность мест.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6656" y="4864608"/>
            <a:ext cx="6903720" cy="694944"/>
          </a:xfrm>
          <a:prstGeom prst="roundRect">
            <a:avLst>
              <a:gd name="adj" fmla="val 11000"/>
            </a:avLst>
          </a:prstGeom>
          <a:solidFill>
            <a:srgbClr val="FAF5E9"/>
          </a:solidFill>
          <a:ln w="12700"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5256" y="5010912"/>
            <a:ext cx="402336" cy="402336"/>
          </a:xfrm>
          <a:prstGeom prst="ellipse">
            <a:avLst/>
          </a:prstGeom>
          <a:solidFill>
            <a:srgbClr val="B88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" y="5047488"/>
            <a:ext cx="283464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AFBFF"/>
                </a:solidFill>
                <a:latin typeface="Arial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53896" y="4946904"/>
            <a:ext cx="5394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41439"/>
                </a:solidFill>
                <a:latin typeface="Arial"/>
              </a:rPr>
              <a:t>Постройте маршрут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72184" y="5276088"/>
            <a:ext cx="5394960" cy="1920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391"/>
                </a:solidFill>
                <a:latin typeface="Arial"/>
              </a:rPr>
              <a:t>Пешеходный путь рассчитает Yandex MapKit.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82127" y="2313432"/>
            <a:ext cx="3611880" cy="3895344"/>
          </a:xfrm>
          <a:prstGeom prst="roundRect">
            <a:avLst>
              <a:gd name="adj" fmla="val 11000"/>
            </a:avLst>
          </a:prstGeom>
          <a:solidFill>
            <a:srgbClr val="EDF4FA"/>
          </a:solidFill>
          <a:ln w="12700">
            <a:solidFill>
              <a:srgbClr val="CF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759952" y="2395728"/>
            <a:ext cx="1655064" cy="3429000"/>
          </a:xfrm>
          <a:prstGeom prst="roundRect">
            <a:avLst>
              <a:gd name="adj" fmla="val 11000"/>
            </a:avLst>
          </a:prstGeom>
          <a:solidFill>
            <a:srgbClr val="FAFBFF"/>
          </a:solidFill>
          <a:ln w="12700"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514600"/>
            <a:ext cx="1435608" cy="319125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065008" y="5897880"/>
            <a:ext cx="32461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4CA9"/>
                </a:solidFill>
                <a:latin typeface="Arial"/>
              </a:rPr>
              <a:t>SMART WALK · АРХИВ v1.0.0+1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" y="5852160"/>
            <a:ext cx="6894576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54CA9"/>
                </a:solidFill>
                <a:latin typeface="Arial"/>
              </a:rPr>
              <a:t>Smart Walk выбирает места. Маршрут по улицам строит Yandex MapKit.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3C363"/>
                </a:solidFill>
                <a:latin typeface="Inter"/>
              </a:rPr>
              <a:t>04 / НАВИГАЦИЯ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3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960120"/>
            <a:ext cx="6995160" cy="10149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Пешеходный маршрут 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на настоящей карте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5495544" cy="7772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C3D0E8"/>
                </a:solidFill>
                <a:latin typeface="Inter"/>
              </a:rPr>
              <a:t>Маршрут, расстояние и время рассчитывает официальный Yandex MapKit.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282696"/>
            <a:ext cx="201168" cy="2011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191256"/>
            <a:ext cx="534924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Inter"/>
              </a:rPr>
              <a:t>Пеший маршрут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29584"/>
            <a:ext cx="5321808" cy="29260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3D0E8"/>
                </a:solidFill>
                <a:latin typeface="Inter"/>
              </a:rPr>
              <a:t>Между выбранными точками.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096511"/>
            <a:ext cx="201168" cy="2011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005072"/>
            <a:ext cx="534924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Inter"/>
              </a:rPr>
              <a:t>Подсказки по пути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343399"/>
            <a:ext cx="5321808" cy="29260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3D0E8"/>
                </a:solidFill>
                <a:latin typeface="Inter"/>
              </a:rPr>
              <a:t>GPS и инструкции для манёвров.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910328"/>
            <a:ext cx="201168" cy="2011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818888"/>
            <a:ext cx="534924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Inter"/>
              </a:rPr>
              <a:t>Контроль отклонения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157216"/>
            <a:ext cx="5321808" cy="29260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3D0E8"/>
                </a:solidFill>
                <a:latin typeface="Inter"/>
              </a:rPr>
              <a:t>Перестроение запускается вручную.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05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22008" y="960120"/>
            <a:ext cx="4654296" cy="5431536"/>
          </a:xfrm>
          <a:prstGeom prst="roundRect">
            <a:avLst>
              <a:gd name="adj" fmla="val 11000"/>
            </a:avLst>
          </a:prstGeom>
          <a:solidFill>
            <a:srgbClr val="132C58"/>
          </a:solidFill>
          <a:ln w="12700">
            <a:solidFill>
              <a:srgbClr val="285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56448" y="1042416"/>
            <a:ext cx="2276856" cy="4809744"/>
          </a:xfrm>
          <a:prstGeom prst="roundRect">
            <a:avLst>
              <a:gd name="adj" fmla="val 11000"/>
            </a:avLst>
          </a:prstGeom>
          <a:solidFill>
            <a:srgbClr val="EAF2F9"/>
          </a:solidFill>
          <a:ln w="12700"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5" y="1161288"/>
            <a:ext cx="2057400" cy="4572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196328" y="6016752"/>
            <a:ext cx="4114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AFBFF"/>
                </a:solidFill>
                <a:latin typeface="Arial"/>
              </a:rPr>
              <a:t>ПЕШЕХОДНЫЙ МАРШРУТ · АРХИВ v1.0.0+1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05 / ГОРОДСКИЕ ПРОСТРАНСТВА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Красота бывает по дороге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Подбор прогулки учитывает пространства, ради которых приятно идти пешком.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97480"/>
            <a:ext cx="3602736" cy="2734056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871216"/>
            <a:ext cx="3246120" cy="1197864"/>
          </a:xfrm>
          <a:prstGeom prst="roundRect">
            <a:avLst>
              <a:gd name="adj" fmla="val 11000"/>
            </a:avLst>
          </a:prstGeom>
          <a:solidFill>
            <a:srgbClr val="D7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32688" y="3401568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688" y="3547872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688" y="3694176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" y="3840480"/>
            <a:ext cx="2907792" cy="0"/>
          </a:xfrm>
          <a:prstGeom prst="line">
            <a:avLst/>
          </a:prstGeom>
          <a:ln w="20320">
            <a:solidFill>
              <a:srgbClr val="026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0120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336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0552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15768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0984" y="3035808"/>
            <a:ext cx="356616" cy="36576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43400"/>
            <a:ext cx="3191256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049B3"/>
                </a:solidFill>
                <a:latin typeface="Inter"/>
              </a:rPr>
              <a:t>НАБЕРЕЖНЫЕ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90872"/>
            <a:ext cx="3182112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Смена перспектив и открытая вода.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2697480"/>
            <a:ext cx="3602736" cy="2734056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45152" y="2871216"/>
            <a:ext cx="3246120" cy="1197864"/>
          </a:xfrm>
          <a:prstGeom prst="roundRect">
            <a:avLst>
              <a:gd name="adj" fmla="val 11000"/>
            </a:avLst>
          </a:prstGeom>
          <a:solidFill>
            <a:srgbClr val="DA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099816"/>
            <a:ext cx="320040" cy="566928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4754880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266944" y="3099816"/>
            <a:ext cx="320040" cy="566928"/>
          </a:xfrm>
          <a:prstGeom prst="rect">
            <a:avLst/>
          </a:prstGeom>
          <a:solidFill>
            <a:srgbClr val="51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5266944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79008" y="3099816"/>
            <a:ext cx="320040" cy="566928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5779008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291072" y="3099816"/>
            <a:ext cx="320040" cy="566928"/>
          </a:xfrm>
          <a:prstGeom prst="rect">
            <a:avLst/>
          </a:prstGeom>
          <a:solidFill>
            <a:srgbClr val="51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6291072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03136" y="3099816"/>
            <a:ext cx="320040" cy="566928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6803136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0" y="3099816"/>
            <a:ext cx="320040" cy="566928"/>
          </a:xfrm>
          <a:prstGeom prst="rect">
            <a:avLst/>
          </a:prstGeom>
          <a:solidFill>
            <a:srgbClr val="51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7315200" y="2871216"/>
            <a:ext cx="155448" cy="192024"/>
          </a:xfrm>
          <a:prstGeom prst="line">
            <a:avLst/>
          </a:prstGeom>
          <a:ln w="15240">
            <a:solidFill>
              <a:srgbClr val="6B9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28032" y="3904487"/>
            <a:ext cx="2798064" cy="0"/>
          </a:xfrm>
          <a:prstGeom prst="line">
            <a:avLst/>
          </a:prstGeom>
          <a:ln w="2540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63440" y="4343400"/>
            <a:ext cx="3191256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049B3"/>
                </a:solidFill>
                <a:latin typeface="Inter"/>
              </a:rPr>
              <a:t>ПЕШЕХОДНЫЕ УЛИЦЫ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690872"/>
            <a:ext cx="3182112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Детали, которые замечаешь без спешки.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2697480"/>
            <a:ext cx="3602736" cy="2734056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85632" y="2871216"/>
            <a:ext cx="3246120" cy="1197864"/>
          </a:xfrm>
          <a:prstGeom prst="roundRect">
            <a:avLst>
              <a:gd name="adj" fmla="val 11000"/>
            </a:avLst>
          </a:prstGeom>
          <a:solidFill>
            <a:srgbClr val="F8E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05672" y="3429000"/>
            <a:ext cx="2587752" cy="228600"/>
          </a:xfrm>
          <a:prstGeom prst="rect">
            <a:avLst/>
          </a:prstGeom>
          <a:solidFill>
            <a:srgbClr val="BC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84664" y="3108960"/>
            <a:ext cx="658368" cy="65836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03536" y="2898648"/>
            <a:ext cx="411480" cy="347472"/>
          </a:xfrm>
          <a:prstGeom prst="rect">
            <a:avLst/>
          </a:prstGeom>
          <a:solidFill>
            <a:srgbClr val="AE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343400"/>
            <a:ext cx="3191256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049B3"/>
                </a:solidFill>
                <a:latin typeface="Inter"/>
              </a:rPr>
              <a:t>ПЛОЩАДИ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690872"/>
            <a:ext cx="3182112" cy="4297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526584"/>
                </a:solidFill>
                <a:latin typeface="Inter"/>
              </a:rPr>
              <a:t>Место для остановки и нового взгляда.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" y="5705856"/>
            <a:ext cx="10954512" cy="429768"/>
          </a:xfrm>
          <a:prstGeom prst="roundRect">
            <a:avLst>
              <a:gd name="adj" fmla="val 9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760720"/>
            <a:ext cx="10506456" cy="27432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1" i="0">
                <a:solidFill>
                  <a:srgbClr val="F4F7FF"/>
                </a:solidFill>
                <a:latin typeface="Inter"/>
              </a:rPr>
              <a:t>Приоритет scenic-мест опирается на подготовленные данные OSM — это не гарантия «самого красивого» маршрута.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06 / ДОПОЛНИТЕЛЬНЫЕ ОЦЕНКИ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Четыре взгляда на условия прогулки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Экологические движки оценивают уже построенный путь, а не выбирают маршрут.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2871216"/>
            <a:ext cx="777240" cy="777240"/>
          </a:xfrm>
          <a:prstGeom prst="ellipse">
            <a:avLst/>
          </a:prstGeom>
          <a:solidFill>
            <a:srgbClr val="F7E5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118104"/>
            <a:ext cx="292608" cy="29260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22960" y="3300984"/>
            <a:ext cx="173736" cy="182880"/>
          </a:xfrm>
          <a:prstGeom prst="line">
            <a:avLst/>
          </a:prstGeom>
          <a:ln w="16510">
            <a:solidFill>
              <a:srgbClr val="B77C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2104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B77C1A"/>
                </a:solidFill>
                <a:latin typeface="Inter"/>
              </a:rPr>
              <a:t>SHADE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Тень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Геометрическая оценка затенённости зданиями.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21608" y="2871216"/>
            <a:ext cx="777240" cy="777240"/>
          </a:xfrm>
          <a:prstGeom prst="ellipse">
            <a:avLst/>
          </a:prstGeom>
          <a:solidFill>
            <a:srgbClr val="C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867912" y="3090672"/>
            <a:ext cx="466344" cy="0"/>
          </a:xfrm>
          <a:prstGeom prst="line">
            <a:avLst/>
          </a:prstGeom>
          <a:ln w="20320">
            <a:solidFill>
              <a:srgbClr val="24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67912" y="3218688"/>
            <a:ext cx="466344" cy="0"/>
          </a:xfrm>
          <a:prstGeom prst="line">
            <a:avLst/>
          </a:prstGeom>
          <a:ln w="20320">
            <a:solidFill>
              <a:srgbClr val="24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67912" y="3346704"/>
            <a:ext cx="466344" cy="0"/>
          </a:xfrm>
          <a:prstGeom prst="line">
            <a:avLst/>
          </a:prstGeom>
          <a:ln w="20320">
            <a:solidFill>
              <a:srgbClr val="24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21608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46987"/>
                </a:solidFill>
                <a:latin typeface="Inter"/>
              </a:rPr>
              <a:t>QUIET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Тишина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Относительный прокси близости к дорогам.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11112" y="2871216"/>
            <a:ext cx="777240" cy="777240"/>
          </a:xfrm>
          <a:prstGeom prst="ellipse">
            <a:avLst/>
          </a:prstGeom>
          <a:solidFill>
            <a:srgbClr val="DF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29984" y="3090672"/>
            <a:ext cx="118872" cy="118872"/>
          </a:xfrm>
          <a:prstGeom prst="ellipse">
            <a:avLst/>
          </a:prstGeom>
          <a:solidFill>
            <a:srgbClr val="026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31152" y="3209544"/>
            <a:ext cx="118872" cy="118872"/>
          </a:xfrm>
          <a:prstGeom prst="ellipse">
            <a:avLst/>
          </a:prstGeom>
          <a:solidFill>
            <a:srgbClr val="026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4B6BB6"/>
                </a:solidFill>
                <a:latin typeface="Inter"/>
              </a:rPr>
              <a:t>PUDDLE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Лужи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Модельная склонность участков к намоканию.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90304" y="2615184"/>
            <a:ext cx="2688336" cy="2807208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0616" y="2871216"/>
            <a:ext cx="777240" cy="777240"/>
          </a:xfrm>
          <a:prstGeom prst="ellipse">
            <a:avLst/>
          </a:prstGeom>
          <a:solidFill>
            <a:srgbClr val="E7E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9692640" y="3063240"/>
            <a:ext cx="91440" cy="365760"/>
          </a:xfrm>
          <a:prstGeom prst="line">
            <a:avLst/>
          </a:prstGeom>
          <a:ln w="17780">
            <a:solidFill>
              <a:srgbClr val="717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84080" y="3063240"/>
            <a:ext cx="9144" cy="365760"/>
          </a:xfrm>
          <a:prstGeom prst="line">
            <a:avLst/>
          </a:prstGeom>
          <a:ln w="17780">
            <a:solidFill>
              <a:srgbClr val="717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84080" y="3063240"/>
            <a:ext cx="109728" cy="365760"/>
          </a:xfrm>
          <a:prstGeom prst="line">
            <a:avLst/>
          </a:prstGeom>
          <a:ln w="17780">
            <a:solidFill>
              <a:srgbClr val="717F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500616" y="3831336"/>
            <a:ext cx="2221992" cy="2103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717F36"/>
                </a:solidFill>
                <a:latin typeface="Inter"/>
              </a:rPr>
              <a:t>POLLEN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0616" y="4197096"/>
            <a:ext cx="2249424" cy="36576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06152F"/>
                </a:solidFill>
                <a:latin typeface="Inter"/>
              </a:rPr>
              <a:t>Пыльца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4654296"/>
            <a:ext cx="2194560" cy="58521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26584"/>
                </a:solidFill>
                <a:latin typeface="Inter"/>
              </a:rPr>
              <a:t>Моделируемые фоновые концентрации CAMS.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669280"/>
            <a:ext cx="10972800" cy="484632"/>
          </a:xfrm>
          <a:prstGeom prst="roundRect">
            <a:avLst>
              <a:gd name="adj" fmla="val 13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5760720"/>
            <a:ext cx="10533888" cy="26517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 i="0">
                <a:solidFill>
                  <a:srgbClr val="F4F7FF"/>
                </a:solidFill>
                <a:latin typeface="Inter"/>
              </a:rPr>
              <a:t>Важно: это расчётные модели, а не измерения на месте и не гарантия комфортного или безопасного маршрута.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3C363"/>
                </a:solidFill>
                <a:latin typeface="Inter"/>
              </a:rPr>
              <a:t>07 / ИЗУЧАЙТЕ И СЛУШАЙТЕ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3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987552"/>
            <a:ext cx="10241280" cy="1033271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У города есть истории.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 i="0">
                <a:solidFill>
                  <a:srgbClr val="F4F7FF"/>
                </a:solidFill>
                <a:latin typeface="Inter"/>
              </a:rPr>
              <a:t>У прогулки — голос.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807208"/>
            <a:ext cx="5193792" cy="2898648"/>
          </a:xfrm>
          <a:prstGeom prst="roundRect">
            <a:avLst>
              <a:gd name="adj" fmla="val 10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9816"/>
            <a:ext cx="4215384" cy="7589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400" b="1" i="0">
                <a:solidFill>
                  <a:srgbClr val="F3C363"/>
                </a:solidFill>
                <a:latin typeface="Inter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023360"/>
            <a:ext cx="4416552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исторических справок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681728"/>
            <a:ext cx="4453128" cy="73152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3D0E8"/>
                </a:solidFill>
                <a:latin typeface="Inter"/>
              </a:rPr>
              <a:t>Дополнительный контекст для части мест редакционного каталога.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2807208"/>
            <a:ext cx="5449824" cy="2898648"/>
          </a:xfrm>
          <a:prstGeom prst="roundRect">
            <a:avLst>
              <a:gd name="adj" fmla="val 10000"/>
            </a:avLst>
          </a:prstGeom>
          <a:solidFill>
            <a:srgbClr val="11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3182112"/>
            <a:ext cx="4599432" cy="37490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Голосовой 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3767328"/>
            <a:ext cx="4690872" cy="5394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C3D0E8"/>
                </a:solidFill>
                <a:latin typeface="Inter"/>
              </a:rPr>
              <a:t>Системный распознаватель Android, после согласия пользователя.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37376" y="4599432"/>
            <a:ext cx="4645152" cy="0"/>
          </a:xfrm>
          <a:prstGeom prst="line">
            <a:avLst/>
          </a:prstGeom>
          <a:ln w="10160">
            <a:solidFill>
              <a:srgbClr val="416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9944" y="4709160"/>
            <a:ext cx="4626864" cy="4023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Голосовые подсказки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221224"/>
            <a:ext cx="4727448" cy="3474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C3D0E8"/>
                </a:solidFill>
                <a:latin typeface="Inter"/>
              </a:rPr>
              <a:t>Озвучивание системным Android TTS.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08 / ОПЦИОНАЛЬНЫЙ ПОМОЩНИК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Можно спросить о городе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Текстовый ИИ-помощник — дополнительная функция, а не условие работы карты.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6720840" cy="293522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16952" y="278892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880360"/>
            <a:ext cx="3438144" cy="1737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3C363"/>
                </a:solidFill>
                <a:latin typeface="Inter"/>
              </a:rPr>
              <a:t>СОГЛАСИЕ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136391"/>
            <a:ext cx="3419856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i="0">
                <a:solidFill>
                  <a:srgbClr val="F4F7FF"/>
                </a:solidFill>
                <a:latin typeface="Inter"/>
              </a:rPr>
              <a:t>До первого вопроса.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6952" y="3749039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3840479"/>
            <a:ext cx="3438144" cy="1737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3C363"/>
                </a:solidFill>
                <a:latin typeface="Inter"/>
              </a:rPr>
              <a:t>FREE-МОДЕЛЬ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4096511"/>
            <a:ext cx="3419856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i="0">
                <a:solidFill>
                  <a:srgbClr val="F4F7FF"/>
                </a:solidFill>
                <a:latin typeface="Inter"/>
              </a:rPr>
              <a:t>Доступность зависит от поставщика.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952" y="470916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4800600"/>
            <a:ext cx="3438144" cy="17373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3C363"/>
                </a:solidFill>
                <a:latin typeface="Inter"/>
              </a:rPr>
              <a:t>НЕЗАВИСИМО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5056632"/>
            <a:ext cx="3419856" cy="30175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10" b="0" i="0">
                <a:solidFill>
                  <a:srgbClr val="F4F7FF"/>
                </a:solidFill>
                <a:latin typeface="Inter"/>
              </a:rPr>
              <a:t>Карта и прогулки работают без ИИ.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88152"/>
            <a:ext cx="10908792" cy="347472"/>
          </a:xfrm>
          <a:prstGeom prst="roundRect">
            <a:avLst>
              <a:gd name="adj" fmla="val 10000"/>
            </a:avLst>
          </a:prstGeom>
          <a:solidFill>
            <a:srgbClr val="F5E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843016"/>
            <a:ext cx="1042416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1" i="0">
                <a:solidFill>
                  <a:srgbClr val="88550E"/>
                </a:solidFill>
                <a:latin typeface="Inter"/>
              </a:rPr>
              <a:t>ИИ может ошибаться или быть недоступен — его ответы не заменяют проверенные сведения каталога.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2596896"/>
            <a:ext cx="6684264" cy="3163824"/>
          </a:xfrm>
          <a:prstGeom prst="roundRect">
            <a:avLst>
              <a:gd name="adj" fmla="val 11000"/>
            </a:avLst>
          </a:prstGeom>
          <a:solidFill>
            <a:srgbClr val="EEF4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92424" y="2642616"/>
            <a:ext cx="1426464" cy="2916936"/>
          </a:xfrm>
          <a:prstGeom prst="roundRect">
            <a:avLst>
              <a:gd name="adj" fmla="val 11000"/>
            </a:avLst>
          </a:prstGeom>
          <a:solidFill>
            <a:srgbClr val="FAFBFF"/>
          </a:solidFill>
          <a:ln w="12700">
            <a:solidFill>
              <a:srgbClr val="D3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761488"/>
            <a:ext cx="1207008" cy="26791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9264" y="5577840"/>
            <a:ext cx="61264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4CA9"/>
                </a:solidFill>
                <a:latin typeface="Arial"/>
              </a:rPr>
              <a:t>РЕАЛЬНЫЙ ЭКРАН ПОМОЩНИКА · АРХИВ v1.0.0+1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09 / ПРИВАТНОСТЬ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Начать можно без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Локальные предпочтения и понятные разрешения вместо обязательного аккаунта.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33472"/>
            <a:ext cx="3557016" cy="2368296"/>
          </a:xfrm>
          <a:prstGeom prst="roundRect">
            <a:avLst>
              <a:gd name="adj" fmla="val 11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52928"/>
            <a:ext cx="2898648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0049B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56432"/>
            <a:ext cx="2935224" cy="39319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06152F"/>
                </a:solidFill>
                <a:latin typeface="Inter"/>
              </a:rPr>
              <a:t>Без аккаунта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23360"/>
            <a:ext cx="2999232" cy="6766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26584"/>
                </a:solidFill>
                <a:latin typeface="Inter"/>
              </a:rPr>
              <a:t>Нет обязательной регистрации и профиля.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633472"/>
            <a:ext cx="3557016" cy="2368296"/>
          </a:xfrm>
          <a:prstGeom prst="roundRect">
            <a:avLst>
              <a:gd name="adj" fmla="val 11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2852928"/>
            <a:ext cx="2898648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0049B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3456432"/>
            <a:ext cx="2935224" cy="39319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06152F"/>
                </a:solidFill>
                <a:latin typeface="Inter"/>
              </a:rPr>
              <a:t>Избранное — локально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4023360"/>
            <a:ext cx="2999232" cy="6766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26584"/>
                </a:solidFill>
                <a:latin typeface="Inter"/>
              </a:rPr>
              <a:t>Сохраняется на устройстве без синхронизации.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2633472"/>
            <a:ext cx="3557016" cy="2368296"/>
          </a:xfrm>
          <a:prstGeom prst="roundRect">
            <a:avLst>
              <a:gd name="adj" fmla="val 11000"/>
            </a:avLst>
          </a:prstGeom>
          <a:solidFill>
            <a:srgbClr val="F3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5" y="2852928"/>
            <a:ext cx="2898648" cy="32918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0049B3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5" y="3456432"/>
            <a:ext cx="2935224" cy="39319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06152F"/>
                </a:solidFill>
                <a:latin typeface="Inter"/>
              </a:rPr>
              <a:t>Нет фоновой геолокации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5" y="4023360"/>
            <a:ext cx="2999232" cy="67665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26584"/>
                </a:solidFill>
                <a:latin typeface="Inter"/>
              </a:rPr>
              <a:t>Приложение не ведёт историю перемещений.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94376"/>
            <a:ext cx="10917936" cy="868680"/>
          </a:xfrm>
          <a:prstGeom prst="roundRect">
            <a:avLst>
              <a:gd name="adj" fmla="val 12000"/>
            </a:avLst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31536"/>
            <a:ext cx="10451592" cy="49377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60" b="0" i="0">
                <a:solidFill>
                  <a:srgbClr val="F4F7FF"/>
                </a:solidFill>
                <a:latin typeface="Inter"/>
              </a:rPr>
              <a:t>Карта, маршруты, внешний поиск и ИИ используют сетевые сервисы. Для голоса и ИИ предусмотрены отдельные согласия.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F3C363"/>
                </a:solidFill>
                <a:latin typeface="Inter"/>
              </a:rPr>
              <a:t>10 / ОТКРЫТАЯ ТЕХНИЧЕСКАЯ ОСНОВА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314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941832"/>
            <a:ext cx="11009376" cy="80467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Inter"/>
              </a:rPr>
              <a:t>Один продукт. Три открытых компонента.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56231"/>
            <a:ext cx="9939528" cy="49377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C3D0E8"/>
                </a:solidFill>
                <a:latin typeface="Inter"/>
              </a:rPr>
              <a:t>Клиент, сервер и официальный сайт разделены — исходный код доступен для изучения.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2715768"/>
            <a:ext cx="3557016" cy="2194560"/>
          </a:xfrm>
          <a:prstGeom prst="roundRect">
            <a:avLst>
              <a:gd name="adj" fmla="val 10000"/>
            </a:avLst>
          </a:prstGeom>
          <a:solidFill>
            <a:srgbClr val="0E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935224"/>
            <a:ext cx="292608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3C363"/>
                </a:solidFill>
                <a:latin typeface="Inter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83280"/>
            <a:ext cx="2926080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Flutter · Dart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050791"/>
            <a:ext cx="3026664" cy="46634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C3D0E8"/>
                </a:solidFill>
                <a:latin typeface="Inter"/>
              </a:rPr>
              <a:t>Интерфейс, маршруты, голос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715768"/>
            <a:ext cx="3557016" cy="2194560"/>
          </a:xfrm>
          <a:prstGeom prst="roundRect">
            <a:avLst>
              <a:gd name="adj" fmla="val 10000"/>
            </a:avLst>
          </a:prstGeom>
          <a:solidFill>
            <a:srgbClr val="1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935224"/>
            <a:ext cx="292608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3C363"/>
                </a:solidFill>
                <a:latin typeface="Inter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83280"/>
            <a:ext cx="2926080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FastAPI ·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050791"/>
            <a:ext cx="3026664" cy="46634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C3D0E8"/>
                </a:solidFill>
                <a:latin typeface="Inter"/>
              </a:rPr>
              <a:t>Каталог, оценочные модели,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715768"/>
            <a:ext cx="3557016" cy="2194560"/>
          </a:xfrm>
          <a:prstGeom prst="roundRect">
            <a:avLst>
              <a:gd name="adj" fmla="val 10000"/>
            </a:avLst>
          </a:prstGeom>
          <a:solidFill>
            <a:srgbClr val="2C4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935224"/>
            <a:ext cx="2926080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3C363"/>
                </a:solidFill>
                <a:latin typeface="Inter"/>
              </a:rPr>
              <a:t>САЙТ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2926080" cy="438912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F4F7FF"/>
                </a:solidFill>
                <a:latin typeface="Inter"/>
              </a:rPr>
              <a:t>Astro ·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50791"/>
            <a:ext cx="3026664" cy="46634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C3D0E8"/>
                </a:solidFill>
                <a:latin typeface="Inter"/>
              </a:rPr>
              <a:t>Описание, документы и загрузка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5257800"/>
            <a:ext cx="2907792" cy="365760"/>
          </a:xfrm>
          <a:prstGeom prst="roundRect">
            <a:avLst>
              <a:gd name="adj" fmla="val 27000"/>
            </a:avLst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280660"/>
            <a:ext cx="26700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Inter"/>
              </a:rPr>
              <a:t>MIT · авторский код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39896" y="5257800"/>
            <a:ext cx="2670048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5280660"/>
            <a:ext cx="2432304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Inter"/>
              </a:rPr>
              <a:t>ODbL · данные OSM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74536" y="5257800"/>
            <a:ext cx="4005072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5280660"/>
            <a:ext cx="376732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Inter"/>
              </a:rPr>
              <a:t>GitHub Actions · CI-проверки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824728"/>
            <a:ext cx="1048816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0" b="0" i="0">
                <a:solidFill>
                  <a:srgbClr val="C3D0E8"/>
                </a:solidFill>
                <a:latin typeface="Inter"/>
              </a:rPr>
              <a:t>Сторонние SDK, карты и брендовые материалы сохраняют собственные условия использования.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11 / ЧЕСТНЫЕ ГРАНИЦЫ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Что важно знать до установки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Приложение помогает исследовать город, но не подменяет официальную навигационную информацию.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2432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88036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1016" y="270662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ИНТЕРНЕТ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299008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Для карты, маршрутов и каталога требуется сеть.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62432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3096" y="288036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270662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РЕЖИМ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99008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Только Android 8.0+ и пешеходные маршруты.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75887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393192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3758183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ПЕРЕСТРОЕНИЕ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404164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При отклонении — только по действию пользователя.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675887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3096" y="393192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3758183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ОЦЕНКИ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404164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Тень, тишина, лужи и пыльца — расчётные модели.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2744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498348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1016" y="480974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ОБНОВЛЕНИЯ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509320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APK через GitHub Releases, обновление вручную.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4727448"/>
            <a:ext cx="5321808" cy="832104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83096" y="4983480"/>
            <a:ext cx="228600" cy="228600"/>
          </a:xfrm>
          <a:prstGeom prst="ellipse">
            <a:avLst/>
          </a:prstGeom>
          <a:solidFill>
            <a:srgbClr val="F1D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4809744"/>
            <a:ext cx="4498848" cy="24688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91671A"/>
                </a:solidFill>
                <a:latin typeface="Inter"/>
              </a:rPr>
              <a:t>ПОЛЕВАЯ ПРОВЕРКА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5093208"/>
            <a:ext cx="449884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40" b="0" i="0">
                <a:solidFill>
                  <a:srgbClr val="526584"/>
                </a:solidFill>
                <a:latin typeface="Inter"/>
              </a:rPr>
              <a:t>CI и сборка не заменяют испытания на устройствах.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16368" y="0"/>
            <a:ext cx="4681728" cy="6858000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73936" y="822960"/>
            <a:ext cx="5394960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8E8FC"/>
                </a:solidFill>
                <a:latin typeface="Inter"/>
              </a:rPr>
              <a:t>ПЕТЕРБУРГ В ДЕТАЛЯХ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09928"/>
            <a:ext cx="6574536" cy="16824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4F7FF"/>
                </a:solidFill>
                <a:latin typeface="Inter"/>
              </a:rPr>
              <a:t>Следующая прогулка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400" b="1" i="0">
                <a:solidFill>
                  <a:srgbClr val="F4F7FF"/>
                </a:solidFill>
                <a:latin typeface="Inter"/>
              </a:rPr>
              <a:t>начинается здесь.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94176"/>
            <a:ext cx="6153912" cy="7772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C3D0E8"/>
                </a:solidFill>
                <a:latin typeface="Inter"/>
              </a:rPr>
              <a:t>Знакомьтесь с Санкт-Петербургом на своих условиях — замечайте больше по дороге.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791456"/>
            <a:ext cx="2002536" cy="365760"/>
          </a:xfrm>
          <a:prstGeom prst="roundRect">
            <a:avLst>
              <a:gd name="adj" fmla="val 27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814316"/>
            <a:ext cx="1764792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4F7FF"/>
                </a:solidFill>
                <a:latin typeface="Inter"/>
              </a:rPr>
              <a:t>Android 8.0+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4791456"/>
            <a:ext cx="2020824" cy="365760"/>
          </a:xfrm>
          <a:prstGeom prst="roundRect">
            <a:avLst>
              <a:gd name="adj" fmla="val 27000"/>
            </a:avLst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4814316"/>
            <a:ext cx="1783080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6152F"/>
                </a:solidFill>
                <a:latin typeface="Inter"/>
              </a:rPr>
              <a:t>Версия 1.1.1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25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9FB0CD"/>
                </a:solidFill>
                <a:latin typeface="Inter"/>
              </a:rPr>
              <a:t>ПЕТЕРБУРГ В ДЕТАЛЯХ  •  v1.1.1  •  26.10.2026  •  © 2026 Денис Аниськов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9FB0CD"/>
                </a:solidFill>
                <a:latin typeface="Inter"/>
              </a:rPr>
              <a:t>13</a:t>
            </a:r>
          </a:p>
        </p:txBody>
      </p:sp>
      <p:pic>
        <p:nvPicPr>
          <p:cNvPr id="21" name="Picture 20" descr="icon_round_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713232"/>
            <a:ext cx="941832" cy="9418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5669280"/>
            <a:ext cx="63093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BE0FD"/>
                </a:solidFill>
                <a:latin typeface="Arial"/>
              </a:rPr>
              <a:t>Официальный сайт: spb-in-details.vercel.app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44383" y="1947672"/>
            <a:ext cx="1965960" cy="2267712"/>
          </a:xfrm>
          <a:prstGeom prst="roundRect">
            <a:avLst>
              <a:gd name="adj" fmla="val 11000"/>
            </a:avLst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qr_ap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115" y="2075688"/>
            <a:ext cx="1682496" cy="16824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52944" y="4407408"/>
            <a:ext cx="2148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AC761"/>
                </a:solidFill>
                <a:latin typeface="Arial"/>
              </a:rPr>
              <a:t>СКАЧАТЬ APK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4892040"/>
            <a:ext cx="21031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FDCF4"/>
                </a:solidFill>
                <a:latin typeface="Arial"/>
              </a:rPr>
              <a:t>GitHub Release v1.1.1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1947672"/>
            <a:ext cx="1965960" cy="2267712"/>
          </a:xfrm>
          <a:prstGeom prst="roundRect">
            <a:avLst>
              <a:gd name="adj" fmla="val 11000"/>
            </a:avLst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r_s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9819" y="2075688"/>
            <a:ext cx="1682496" cy="16824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56648" y="4407408"/>
            <a:ext cx="2148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AC761"/>
                </a:solidFill>
                <a:latin typeface="Arial"/>
              </a:rPr>
              <a:t>ОТКРЫТЬ САЙТ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892040"/>
            <a:ext cx="21031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FDCF4"/>
                </a:solidFill>
                <a:latin typeface="Arial"/>
              </a:rPr>
              <a:t>spb-in-details.vercel.app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56032"/>
            <a:ext cx="8229600" cy="3108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Inter"/>
              </a:rPr>
              <a:t>ПРИЛОЖЕНИЕ / ИСТОЧНИКИ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" y="694944"/>
            <a:ext cx="10981944" cy="0"/>
          </a:xfrm>
          <a:prstGeom prst="line">
            <a:avLst/>
          </a:prstGeom>
          <a:ln w="889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969264"/>
            <a:ext cx="10881360" cy="996696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06152F"/>
                </a:solidFill>
                <a:latin typeface="Inter"/>
              </a:rPr>
              <a:t>На чём основана презентация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01952"/>
            <a:ext cx="10607040" cy="512064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26584"/>
                </a:solidFill>
                <a:latin typeface="Inter"/>
              </a:rPr>
              <a:t>Продуктовые характеристики проверены по документации опубликованного исходного кода.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660904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69464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Android • README / Architecture /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87752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2"/>
              </a:rPr>
              <a:t>github.com/DenisAniskov/SPb_in_Details_public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264408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72968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Backend • README / API /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191256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3"/>
              </a:rPr>
              <a:t>github.com/DenisAniskov/SPb_in_Details_Backend_public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867911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76472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Официальный релиз • APK v1.1.1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794759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4"/>
              </a:rPr>
              <a:t>github.com/DenisAniskov/SPb_in_Details_public/releases/tag/v1.1.1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4471416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379976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Официальный сайт • описание и метаданные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398264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5"/>
              </a:rPr>
              <a:t>spb-in-details.vercel.app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074920"/>
            <a:ext cx="128016" cy="128016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83480"/>
            <a:ext cx="6693408" cy="32004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6152F"/>
                </a:solidFill>
                <a:latin typeface="Inter"/>
              </a:rPr>
              <a:t>Сторонние данные • OpenStreetMap / ODbL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01768"/>
            <a:ext cx="3767328" cy="228600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0049B3"/>
                </a:solidFill>
                <a:latin typeface="Inter"/>
                <a:hlinkClick r:id="rId6"/>
              </a:rPr>
              <a:t>www.openstreetmap.org/copyright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33288"/>
            <a:ext cx="10881360" cy="438912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769864"/>
            <a:ext cx="10424160" cy="448056"/>
          </a:xfrm>
          <a:prstGeom prst="rect">
            <a:avLst/>
          </a:prstGeom>
          <a:noFill/>
        </p:spPr>
        <p:txBody>
          <a:bodyPr wrap="square" anchor="ctr" tIns="13716" bIns="13716" lIns="27432" rIns="27432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defRPr sz="1200" b="1">
                <a:solidFill>
                  <a:srgbClr val="041439"/>
                </a:solidFill>
                <a:latin typeface="Arial"/>
              </a:defRPr>
            </a:pPr>
            <a:r>
              <a:t>Схемы — иллюстрации. Подлинные архивные скриншоты от 20.10.2026 относятся к приложению v1.0.0+1; релиз — 1.1.1+3.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" y="6510528"/>
            <a:ext cx="10981944" cy="0"/>
          </a:xfrm>
          <a:prstGeom prst="line">
            <a:avLst/>
          </a:prstGeom>
          <a:ln w="6985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" y="6565392"/>
            <a:ext cx="9509760" cy="15544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26584"/>
                </a:solidFill>
                <a:latin typeface="Inter"/>
              </a:rPr>
              <a:t>ПЕТЕРБУРГ В ДЕТАЛЯХ  •  v1.1.1  •  26.10.2026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56248"/>
            <a:ext cx="521207" cy="201168"/>
          </a:xfrm>
          <a:prstGeom prst="rect">
            <a:avLst/>
          </a:prstGeom>
          <a:noFill/>
        </p:spPr>
        <p:txBody>
          <a:bodyPr wrap="square" anchor="ctr" tIns="13716" bIns="13716" lIns="13716" rIns="13716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26584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Петербург в деталях — презентация Android-приложения</dc:title>
  <dc:subject>Маркетинговая презентация v1.0 (публичный релиз Android v1.1.1)</dc:subject>
  <dc:creator>Денис Аниськов</dc:creator>
  <cp:keywords>Петербург в деталях, Android, Yandex MapKit, Smart Walk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